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3" r:id="rId9"/>
    <p:sldId id="271" r:id="rId10"/>
    <p:sldId id="272" r:id="rId11"/>
    <p:sldId id="274" r:id="rId12"/>
    <p:sldId id="275" r:id="rId13"/>
    <p:sldId id="276" r:id="rId14"/>
    <p:sldId id="284" r:id="rId15"/>
    <p:sldId id="285" r:id="rId16"/>
    <p:sldId id="278" r:id="rId17"/>
    <p:sldId id="277" r:id="rId18"/>
    <p:sldId id="286" r:id="rId19"/>
    <p:sldId id="281" r:id="rId20"/>
    <p:sldId id="279" r:id="rId21"/>
    <p:sldId id="28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677F9D4-50A3-4EA8-8020-D7DA55F4CB64}" type="datetimeFigureOut">
              <a:rPr lang="fr-FR" smtClean="0"/>
              <a:t>11/06/2023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CE21FA4-523E-445C-B170-75B8AFBA7F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6156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F9D4-50A3-4EA8-8020-D7DA55F4CB64}" type="datetimeFigureOut">
              <a:rPr lang="fr-FR" smtClean="0"/>
              <a:t>11/06/2023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1FA4-523E-445C-B170-75B8AFBA7F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2480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F9D4-50A3-4EA8-8020-D7DA55F4CB64}" type="datetimeFigureOut">
              <a:rPr lang="fr-FR" smtClean="0"/>
              <a:t>11/06/2023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1FA4-523E-445C-B170-75B8AFBA7F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0469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F9D4-50A3-4EA8-8020-D7DA55F4CB64}" type="datetimeFigureOut">
              <a:rPr lang="fr-FR" smtClean="0"/>
              <a:t>11/06/2023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1FA4-523E-445C-B170-75B8AFBA7F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9058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F9D4-50A3-4EA8-8020-D7DA55F4CB64}" type="datetimeFigureOut">
              <a:rPr lang="fr-FR" smtClean="0"/>
              <a:t>11/06/2023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1FA4-523E-445C-B170-75B8AFBA7F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8846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F9D4-50A3-4EA8-8020-D7DA55F4CB64}" type="datetimeFigureOut">
              <a:rPr lang="fr-FR" smtClean="0"/>
              <a:t>11/06/2023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1FA4-523E-445C-B170-75B8AFBA7F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2358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F9D4-50A3-4EA8-8020-D7DA55F4CB64}" type="datetimeFigureOut">
              <a:rPr lang="fr-FR" smtClean="0"/>
              <a:t>11/06/2023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1FA4-523E-445C-B170-75B8AFBA7F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8998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F9D4-50A3-4EA8-8020-D7DA55F4CB64}" type="datetimeFigureOut">
              <a:rPr lang="fr-FR" smtClean="0"/>
              <a:t>11/06/2023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1FA4-523E-445C-B170-75B8AFBA7F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1697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F9D4-50A3-4EA8-8020-D7DA55F4CB64}" type="datetimeFigureOut">
              <a:rPr lang="fr-FR" smtClean="0"/>
              <a:t>11/06/2023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1FA4-523E-445C-B170-75B8AFBA7F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6072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F9D4-50A3-4EA8-8020-D7DA55F4CB64}" type="datetimeFigureOut">
              <a:rPr lang="fr-FR" smtClean="0"/>
              <a:t>11/06/2023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1FA4-523E-445C-B170-75B8AFBA7F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5335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F9D4-50A3-4EA8-8020-D7DA55F4CB64}" type="datetimeFigureOut">
              <a:rPr lang="fr-FR" smtClean="0"/>
              <a:t>11/06/2023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1FA4-523E-445C-B170-75B8AFBA7F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2332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F9D4-50A3-4EA8-8020-D7DA55F4CB64}" type="datetimeFigureOut">
              <a:rPr lang="fr-FR" smtClean="0"/>
              <a:t>11/06/2023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1FA4-523E-445C-B170-75B8AFBA7FDD}" type="slidenum">
              <a:rPr lang="fr-FR" smtClean="0"/>
              <a:t>‹N°›</a:t>
            </a:fld>
            <a:endParaRPr lang="fr-F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0389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F9D4-50A3-4EA8-8020-D7DA55F4CB64}" type="datetimeFigureOut">
              <a:rPr lang="fr-FR" smtClean="0"/>
              <a:t>11/06/2023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1FA4-523E-445C-B170-75B8AFBA7F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9893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F9D4-50A3-4EA8-8020-D7DA55F4CB64}" type="datetimeFigureOut">
              <a:rPr lang="fr-FR" smtClean="0"/>
              <a:t>11/06/2023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1FA4-523E-445C-B170-75B8AFBA7F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8309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F9D4-50A3-4EA8-8020-D7DA55F4CB64}" type="datetimeFigureOut">
              <a:rPr lang="fr-FR" smtClean="0"/>
              <a:t>11/06/2023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1FA4-523E-445C-B170-75B8AFBA7F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487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F9D4-50A3-4EA8-8020-D7DA55F4CB64}" type="datetimeFigureOut">
              <a:rPr lang="fr-FR" smtClean="0"/>
              <a:t>11/06/2023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1FA4-523E-445C-B170-75B8AFBA7F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06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7F9D4-50A3-4EA8-8020-D7DA55F4CB64}" type="datetimeFigureOut">
              <a:rPr lang="fr-FR" smtClean="0"/>
              <a:t>11/06/2023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1FA4-523E-445C-B170-75B8AFBA7F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40930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67" b="0" i="0">
                <a:solidFill>
                  <a:srgbClr val="FF5722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1063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99" y="6727601"/>
            <a:ext cx="12192000" cy="131233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EE6C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1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1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055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7F9D4-50A3-4EA8-8020-D7DA55F4CB64}" type="datetimeFigureOut">
              <a:rPr lang="fr-FR" smtClean="0"/>
              <a:t>11/06/2023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21FA4-523E-445C-B170-75B8AFBA7F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5216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13" Type="http://schemas.openxmlformats.org/officeDocument/2006/relationships/image" Target="../media/image11.jpg"/><Relationship Id="rId3" Type="http://schemas.openxmlformats.org/officeDocument/2006/relationships/image" Target="../media/image6.png"/><Relationship Id="rId7" Type="http://schemas.openxmlformats.org/officeDocument/2006/relationships/image" Target="../media/image17.jpg"/><Relationship Id="rId12" Type="http://schemas.openxmlformats.org/officeDocument/2006/relationships/image" Target="../media/image22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11" Type="http://schemas.openxmlformats.org/officeDocument/2006/relationships/image" Target="../media/image21.jpg"/><Relationship Id="rId5" Type="http://schemas.openxmlformats.org/officeDocument/2006/relationships/image" Target="../media/image15.jpg"/><Relationship Id="rId15" Type="http://schemas.openxmlformats.org/officeDocument/2006/relationships/image" Target="../media/image24.png"/><Relationship Id="rId10" Type="http://schemas.openxmlformats.org/officeDocument/2006/relationships/image" Target="../media/image20.png"/><Relationship Id="rId4" Type="http://schemas.openxmlformats.org/officeDocument/2006/relationships/image" Target="../media/image14.jpg"/><Relationship Id="rId9" Type="http://schemas.openxmlformats.org/officeDocument/2006/relationships/image" Target="../media/image19.jpg"/><Relationship Id="rId14" Type="http://schemas.openxmlformats.org/officeDocument/2006/relationships/image" Target="../media/image2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2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1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8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232156-EAB9-4156-92F9-7237500225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/>
              <a:t>APPLICATION AU SERVICE DE LA SANTE PUBLIQUE  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0B811C4-68DA-4D77-B005-3108AC7E3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0" y="3602038"/>
            <a:ext cx="3047999" cy="1655762"/>
          </a:xfrm>
        </p:spPr>
        <p:txBody>
          <a:bodyPr/>
          <a:lstStyle/>
          <a:p>
            <a:r>
              <a:rPr lang="fr-FR" dirty="0" err="1">
                <a:solidFill>
                  <a:schemeClr val="tx2">
                    <a:lumMod val="65000"/>
                    <a:lumOff val="35000"/>
                  </a:schemeClr>
                </a:solidFill>
              </a:rPr>
              <a:t>Saoussan</a:t>
            </a:r>
            <a:r>
              <a:rPr lang="fr-FR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EL HAOUZI </a:t>
            </a:r>
          </a:p>
        </p:txBody>
      </p:sp>
    </p:spTree>
    <p:extLst>
      <p:ext uri="{BB962C8B-B14F-4D97-AF65-F5344CB8AC3E}">
        <p14:creationId xmlns:p14="http://schemas.microsoft.com/office/powerpoint/2010/main" val="1085246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82331" y="3321388"/>
            <a:ext cx="6744547" cy="811107"/>
            <a:chOff x="2461748" y="2491041"/>
            <a:chExt cx="5058410" cy="608330"/>
          </a:xfrm>
        </p:grpSpPr>
        <p:sp>
          <p:nvSpPr>
            <p:cNvPr id="3" name="object 3"/>
            <p:cNvSpPr/>
            <p:nvPr/>
          </p:nvSpPr>
          <p:spPr>
            <a:xfrm>
              <a:off x="3894620" y="2491054"/>
              <a:ext cx="3625215" cy="495934"/>
            </a:xfrm>
            <a:custGeom>
              <a:avLst/>
              <a:gdLst/>
              <a:ahLst/>
              <a:cxnLst/>
              <a:rect l="l" t="t" r="r" b="b"/>
              <a:pathLst>
                <a:path w="3625215" h="495935">
                  <a:moveTo>
                    <a:pt x="2873375" y="43307"/>
                  </a:moveTo>
                  <a:lnTo>
                    <a:pt x="2850731" y="9131"/>
                  </a:lnTo>
                  <a:lnTo>
                    <a:pt x="2838297" y="7861"/>
                  </a:lnTo>
                  <a:lnTo>
                    <a:pt x="2832087" y="9067"/>
                  </a:lnTo>
                  <a:lnTo>
                    <a:pt x="1474050" y="414578"/>
                  </a:lnTo>
                  <a:lnTo>
                    <a:pt x="1462798" y="420573"/>
                  </a:lnTo>
                  <a:lnTo>
                    <a:pt x="1455013" y="430085"/>
                  </a:lnTo>
                  <a:lnTo>
                    <a:pt x="1454175" y="432777"/>
                  </a:lnTo>
                  <a:lnTo>
                    <a:pt x="38430" y="135839"/>
                  </a:lnTo>
                  <a:lnTo>
                    <a:pt x="32118" y="135153"/>
                  </a:lnTo>
                  <a:lnTo>
                    <a:pt x="25844" y="135712"/>
                  </a:lnTo>
                  <a:lnTo>
                    <a:pt x="19799" y="137464"/>
                  </a:lnTo>
                  <a:lnTo>
                    <a:pt x="0" y="173507"/>
                  </a:lnTo>
                  <a:lnTo>
                    <a:pt x="4610" y="184937"/>
                  </a:lnTo>
                  <a:lnTo>
                    <a:pt x="13182" y="193789"/>
                  </a:lnTo>
                  <a:lnTo>
                    <a:pt x="24930" y="198843"/>
                  </a:lnTo>
                  <a:lnTo>
                    <a:pt x="1440865" y="495820"/>
                  </a:lnTo>
                  <a:lnTo>
                    <a:pt x="1453667" y="495909"/>
                  </a:lnTo>
                  <a:lnTo>
                    <a:pt x="1465135" y="491261"/>
                  </a:lnTo>
                  <a:lnTo>
                    <a:pt x="1474038" y="482676"/>
                  </a:lnTo>
                  <a:lnTo>
                    <a:pt x="1476819" y="476275"/>
                  </a:lnTo>
                  <a:lnTo>
                    <a:pt x="1479943" y="477240"/>
                  </a:lnTo>
                  <a:lnTo>
                    <a:pt x="1492656" y="476084"/>
                  </a:lnTo>
                  <a:lnTo>
                    <a:pt x="2850692" y="70561"/>
                  </a:lnTo>
                  <a:lnTo>
                    <a:pt x="2861945" y="64566"/>
                  </a:lnTo>
                  <a:lnTo>
                    <a:pt x="2869730" y="55054"/>
                  </a:lnTo>
                  <a:lnTo>
                    <a:pt x="2873375" y="43307"/>
                  </a:lnTo>
                  <a:close/>
                </a:path>
                <a:path w="3625215" h="495935">
                  <a:moveTo>
                    <a:pt x="3625177" y="26162"/>
                  </a:moveTo>
                  <a:lnTo>
                    <a:pt x="3621786" y="17983"/>
                  </a:lnTo>
                  <a:lnTo>
                    <a:pt x="3609746" y="5905"/>
                  </a:lnTo>
                  <a:lnTo>
                    <a:pt x="3601593" y="2489"/>
                  </a:lnTo>
                  <a:lnTo>
                    <a:pt x="2913570" y="0"/>
                  </a:lnTo>
                  <a:lnTo>
                    <a:pt x="2901073" y="2476"/>
                  </a:lnTo>
                  <a:lnTo>
                    <a:pt x="2890875" y="9309"/>
                  </a:lnTo>
                  <a:lnTo>
                    <a:pt x="2883992" y="19494"/>
                  </a:lnTo>
                  <a:lnTo>
                    <a:pt x="2881477" y="31978"/>
                  </a:lnTo>
                  <a:lnTo>
                    <a:pt x="2883992" y="44475"/>
                  </a:lnTo>
                  <a:lnTo>
                    <a:pt x="2890875" y="54711"/>
                  </a:lnTo>
                  <a:lnTo>
                    <a:pt x="2901073" y="61620"/>
                  </a:lnTo>
                  <a:lnTo>
                    <a:pt x="2913519" y="64185"/>
                  </a:lnTo>
                  <a:lnTo>
                    <a:pt x="3593071" y="66662"/>
                  </a:lnTo>
                  <a:lnTo>
                    <a:pt x="3605568" y="64185"/>
                  </a:lnTo>
                  <a:lnTo>
                    <a:pt x="3615766" y="57340"/>
                  </a:lnTo>
                  <a:lnTo>
                    <a:pt x="3622649" y="47167"/>
                  </a:lnTo>
                  <a:lnTo>
                    <a:pt x="3625177" y="34671"/>
                  </a:lnTo>
                  <a:lnTo>
                    <a:pt x="3625177" y="2616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6775" y="2920264"/>
              <a:ext cx="192292" cy="1784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61748" y="2626204"/>
              <a:ext cx="1479550" cy="361315"/>
            </a:xfrm>
            <a:custGeom>
              <a:avLst/>
              <a:gdLst/>
              <a:ahLst/>
              <a:cxnLst/>
              <a:rect l="l" t="t" r="r" b="b"/>
              <a:pathLst>
                <a:path w="1479550" h="361314">
                  <a:moveTo>
                    <a:pt x="25625" y="360758"/>
                  </a:moveTo>
                  <a:lnTo>
                    <a:pt x="14157" y="356109"/>
                  </a:lnTo>
                  <a:lnTo>
                    <a:pt x="5254" y="347514"/>
                  </a:lnTo>
                  <a:lnTo>
                    <a:pt x="149" y="335772"/>
                  </a:lnTo>
                  <a:lnTo>
                    <a:pt x="0" y="322991"/>
                  </a:lnTo>
                  <a:lnTo>
                    <a:pt x="4611" y="311561"/>
                  </a:lnTo>
                  <a:lnTo>
                    <a:pt x="13186" y="302709"/>
                  </a:lnTo>
                  <a:lnTo>
                    <a:pt x="24928" y="297659"/>
                  </a:lnTo>
                  <a:lnTo>
                    <a:pt x="1440870" y="685"/>
                  </a:lnTo>
                  <a:lnTo>
                    <a:pt x="1447181" y="0"/>
                  </a:lnTo>
                  <a:lnTo>
                    <a:pt x="1453449" y="552"/>
                  </a:lnTo>
                  <a:lnTo>
                    <a:pt x="1479299" y="38353"/>
                  </a:lnTo>
                  <a:lnTo>
                    <a:pt x="1474687" y="49783"/>
                  </a:lnTo>
                  <a:lnTo>
                    <a:pt x="1466112" y="58635"/>
                  </a:lnTo>
                  <a:lnTo>
                    <a:pt x="1454370" y="63685"/>
                  </a:lnTo>
                  <a:lnTo>
                    <a:pt x="38428" y="360659"/>
                  </a:lnTo>
                  <a:lnTo>
                    <a:pt x="25625" y="360758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0678" y="2587733"/>
              <a:ext cx="192292" cy="18106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42608" y="588172"/>
            <a:ext cx="4812453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253" dirty="0"/>
              <a:t>Plan</a:t>
            </a:r>
            <a:r>
              <a:rPr spc="-220" dirty="0"/>
              <a:t> </a:t>
            </a:r>
            <a:r>
              <a:rPr spc="53" dirty="0"/>
              <a:t>de</a:t>
            </a:r>
            <a:r>
              <a:rPr spc="-220" dirty="0"/>
              <a:t> </a:t>
            </a:r>
            <a:r>
              <a:rPr spc="107" dirty="0"/>
              <a:t>Soutenance</a:t>
            </a:r>
            <a:endParaRPr dirty="0"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44769" y="226787"/>
            <a:ext cx="1968305" cy="5007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7968" y="189783"/>
            <a:ext cx="2792233" cy="3343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032796" y="4203629"/>
            <a:ext cx="162560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b="1" dirty="0">
                <a:solidFill>
                  <a:srgbClr val="5E5E5E"/>
                </a:solidFill>
                <a:latin typeface="Roboto"/>
                <a:cs typeface="Roboto"/>
              </a:rPr>
              <a:t>IV</a:t>
            </a:r>
            <a:endParaRPr sz="1067">
              <a:latin typeface="Roboto"/>
              <a:cs typeface="Robo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18871" y="4502459"/>
            <a:ext cx="2210647" cy="824653"/>
          </a:xfrm>
          <a:custGeom>
            <a:avLst/>
            <a:gdLst/>
            <a:ahLst/>
            <a:cxnLst/>
            <a:rect l="l" t="t" r="r" b="b"/>
            <a:pathLst>
              <a:path w="1657985" h="618489">
                <a:moveTo>
                  <a:pt x="1629816" y="618376"/>
                </a:moveTo>
                <a:lnTo>
                  <a:pt x="27734" y="618376"/>
                </a:lnTo>
                <a:lnTo>
                  <a:pt x="16939" y="616196"/>
                </a:lnTo>
                <a:lnTo>
                  <a:pt x="8123" y="610253"/>
                </a:lnTo>
                <a:lnTo>
                  <a:pt x="2179" y="601437"/>
                </a:lnTo>
                <a:lnTo>
                  <a:pt x="0" y="590641"/>
                </a:lnTo>
                <a:lnTo>
                  <a:pt x="0" y="27733"/>
                </a:lnTo>
                <a:lnTo>
                  <a:pt x="2179" y="16938"/>
                </a:lnTo>
                <a:lnTo>
                  <a:pt x="8123" y="8122"/>
                </a:lnTo>
                <a:lnTo>
                  <a:pt x="16939" y="2179"/>
                </a:lnTo>
                <a:lnTo>
                  <a:pt x="27734" y="0"/>
                </a:lnTo>
                <a:lnTo>
                  <a:pt x="1637172" y="0"/>
                </a:lnTo>
                <a:lnTo>
                  <a:pt x="1644226" y="2921"/>
                </a:lnTo>
                <a:lnTo>
                  <a:pt x="1654629" y="13323"/>
                </a:lnTo>
                <a:lnTo>
                  <a:pt x="1657551" y="20378"/>
                </a:lnTo>
                <a:lnTo>
                  <a:pt x="1657551" y="590641"/>
                </a:lnTo>
                <a:lnTo>
                  <a:pt x="1655371" y="601437"/>
                </a:lnTo>
                <a:lnTo>
                  <a:pt x="1649427" y="610253"/>
                </a:lnTo>
                <a:lnTo>
                  <a:pt x="1640612" y="616196"/>
                </a:lnTo>
                <a:lnTo>
                  <a:pt x="1629816" y="618376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 txBox="1"/>
          <p:nvPr/>
        </p:nvSpPr>
        <p:spPr>
          <a:xfrm>
            <a:off x="6178722" y="4610061"/>
            <a:ext cx="1890607" cy="576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112604" algn="ctr">
              <a:lnSpc>
                <a:spcPct val="117200"/>
              </a:lnSpc>
              <a:spcBef>
                <a:spcPts val="133"/>
              </a:spcBef>
            </a:pPr>
            <a:r>
              <a:rPr sz="1067" b="1" spc="-33" dirty="0">
                <a:latin typeface="Roboto"/>
                <a:cs typeface="Roboto"/>
              </a:rPr>
              <a:t>L’analyse </a:t>
            </a:r>
            <a:r>
              <a:rPr sz="1067" b="1" spc="-7" dirty="0">
                <a:latin typeface="Roboto"/>
                <a:cs typeface="Roboto"/>
              </a:rPr>
              <a:t>multivariée </a:t>
            </a:r>
            <a:r>
              <a:rPr sz="1067" b="1" dirty="0">
                <a:latin typeface="Roboto"/>
                <a:cs typeface="Roboto"/>
              </a:rPr>
              <a:t>et </a:t>
            </a:r>
            <a:r>
              <a:rPr sz="1067" b="1" spc="-7" dirty="0">
                <a:latin typeface="Roboto"/>
                <a:cs typeface="Roboto"/>
              </a:rPr>
              <a:t>les </a:t>
            </a:r>
            <a:r>
              <a:rPr sz="1067" b="1" dirty="0">
                <a:latin typeface="Roboto"/>
                <a:cs typeface="Roboto"/>
              </a:rPr>
              <a:t> </a:t>
            </a:r>
            <a:r>
              <a:rPr sz="1067" b="1" spc="-13" dirty="0">
                <a:latin typeface="Roboto"/>
                <a:cs typeface="Roboto"/>
              </a:rPr>
              <a:t>résultats</a:t>
            </a:r>
            <a:r>
              <a:rPr sz="1067" b="1" spc="-7" dirty="0">
                <a:latin typeface="Roboto"/>
                <a:cs typeface="Roboto"/>
              </a:rPr>
              <a:t> </a:t>
            </a:r>
            <a:r>
              <a:rPr sz="1067" b="1" spc="-13" dirty="0">
                <a:latin typeface="Roboto"/>
                <a:cs typeface="Roboto"/>
              </a:rPr>
              <a:t>statistiques</a:t>
            </a:r>
            <a:r>
              <a:rPr sz="1067" b="1" spc="-7" dirty="0">
                <a:latin typeface="Roboto"/>
                <a:cs typeface="Roboto"/>
              </a:rPr>
              <a:t> associés</a:t>
            </a:r>
            <a:endParaRPr sz="1067" dirty="0">
              <a:latin typeface="Roboto"/>
              <a:cs typeface="Robo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65836" y="4426689"/>
            <a:ext cx="116840" cy="79587"/>
          </a:xfrm>
          <a:custGeom>
            <a:avLst/>
            <a:gdLst/>
            <a:ahLst/>
            <a:cxnLst/>
            <a:rect l="l" t="t" r="r" b="b"/>
            <a:pathLst>
              <a:path w="87629" h="59689">
                <a:moveTo>
                  <a:pt x="87101" y="59332"/>
                </a:moveTo>
                <a:lnTo>
                  <a:pt x="0" y="59332"/>
                </a:lnTo>
                <a:lnTo>
                  <a:pt x="43550" y="0"/>
                </a:lnTo>
                <a:lnTo>
                  <a:pt x="87101" y="5933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5285513" y="3219301"/>
            <a:ext cx="152400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b="1" spc="-13" dirty="0">
                <a:solidFill>
                  <a:srgbClr val="5E5E5E"/>
                </a:solidFill>
                <a:latin typeface="Roboto"/>
                <a:cs typeface="Roboto"/>
              </a:rPr>
              <a:t>III</a:t>
            </a:r>
            <a:endParaRPr sz="1067">
              <a:latin typeface="Roboto"/>
              <a:cs typeface="Robot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50741" y="2213830"/>
            <a:ext cx="2210647" cy="915247"/>
          </a:xfrm>
          <a:custGeom>
            <a:avLst/>
            <a:gdLst/>
            <a:ahLst/>
            <a:cxnLst/>
            <a:rect l="l" t="t" r="r" b="b"/>
            <a:pathLst>
              <a:path w="1657985" h="686435">
                <a:moveTo>
                  <a:pt x="1657540" y="20751"/>
                </a:moveTo>
                <a:lnTo>
                  <a:pt x="1654568" y="13576"/>
                </a:lnTo>
                <a:lnTo>
                  <a:pt x="1643976" y="2984"/>
                </a:lnTo>
                <a:lnTo>
                  <a:pt x="1636788" y="0"/>
                </a:lnTo>
                <a:lnTo>
                  <a:pt x="28244" y="0"/>
                </a:lnTo>
                <a:lnTo>
                  <a:pt x="17246" y="2222"/>
                </a:lnTo>
                <a:lnTo>
                  <a:pt x="8267" y="8280"/>
                </a:lnTo>
                <a:lnTo>
                  <a:pt x="2209" y="17259"/>
                </a:lnTo>
                <a:lnTo>
                  <a:pt x="0" y="28244"/>
                </a:lnTo>
                <a:lnTo>
                  <a:pt x="0" y="601535"/>
                </a:lnTo>
                <a:lnTo>
                  <a:pt x="2209" y="612521"/>
                </a:lnTo>
                <a:lnTo>
                  <a:pt x="8267" y="621499"/>
                </a:lnTo>
                <a:lnTo>
                  <a:pt x="17246" y="627557"/>
                </a:lnTo>
                <a:lnTo>
                  <a:pt x="28244" y="629780"/>
                </a:lnTo>
                <a:lnTo>
                  <a:pt x="788035" y="629780"/>
                </a:lnTo>
                <a:lnTo>
                  <a:pt x="828751" y="686257"/>
                </a:lnTo>
                <a:lnTo>
                  <a:pt x="869442" y="629780"/>
                </a:lnTo>
                <a:lnTo>
                  <a:pt x="1629295" y="629780"/>
                </a:lnTo>
                <a:lnTo>
                  <a:pt x="1640293" y="627557"/>
                </a:lnTo>
                <a:lnTo>
                  <a:pt x="1649272" y="621499"/>
                </a:lnTo>
                <a:lnTo>
                  <a:pt x="1655330" y="612521"/>
                </a:lnTo>
                <a:lnTo>
                  <a:pt x="1657540" y="601535"/>
                </a:lnTo>
                <a:lnTo>
                  <a:pt x="1657540" y="20751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 txBox="1"/>
          <p:nvPr/>
        </p:nvSpPr>
        <p:spPr>
          <a:xfrm>
            <a:off x="4603065" y="2324935"/>
            <a:ext cx="1545167" cy="5765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-1693" algn="ctr">
              <a:lnSpc>
                <a:spcPct val="117200"/>
              </a:lnSpc>
              <a:spcBef>
                <a:spcPts val="133"/>
              </a:spcBef>
            </a:pPr>
            <a:r>
              <a:rPr sz="1067" b="1" spc="-7" dirty="0">
                <a:latin typeface="Roboto"/>
                <a:cs typeface="Roboto"/>
              </a:rPr>
              <a:t>Description </a:t>
            </a:r>
            <a:r>
              <a:rPr sz="1067" b="1" dirty="0">
                <a:latin typeface="Roboto"/>
                <a:cs typeface="Roboto"/>
              </a:rPr>
              <a:t>et </a:t>
            </a:r>
            <a:r>
              <a:rPr sz="1067" b="1" spc="-7" dirty="0">
                <a:latin typeface="Roboto"/>
                <a:cs typeface="Roboto"/>
              </a:rPr>
              <a:t>Analyse </a:t>
            </a:r>
            <a:r>
              <a:rPr sz="1067" b="1" dirty="0">
                <a:latin typeface="Roboto"/>
                <a:cs typeface="Roboto"/>
              </a:rPr>
              <a:t> </a:t>
            </a:r>
            <a:r>
              <a:rPr sz="1067" b="1" spc="-7" dirty="0">
                <a:latin typeface="Roboto"/>
                <a:cs typeface="Roboto"/>
              </a:rPr>
              <a:t>univariée </a:t>
            </a:r>
            <a:r>
              <a:rPr sz="1067" b="1" dirty="0">
                <a:latin typeface="Roboto"/>
                <a:cs typeface="Roboto"/>
              </a:rPr>
              <a:t>des </a:t>
            </a:r>
            <a:r>
              <a:rPr sz="1067" b="1" spc="-7" dirty="0">
                <a:latin typeface="Roboto"/>
                <a:cs typeface="Roboto"/>
              </a:rPr>
              <a:t>différentes </a:t>
            </a:r>
            <a:r>
              <a:rPr sz="1067" b="1" spc="-247" dirty="0">
                <a:latin typeface="Roboto"/>
                <a:cs typeface="Roboto"/>
              </a:rPr>
              <a:t> </a:t>
            </a:r>
            <a:r>
              <a:rPr sz="1067" b="1" spc="-7" dirty="0">
                <a:latin typeface="Roboto"/>
                <a:cs typeface="Roboto"/>
              </a:rPr>
              <a:t>variables</a:t>
            </a:r>
            <a:endParaRPr sz="1067">
              <a:latin typeface="Roboto"/>
              <a:cs typeface="Robot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355600" y="3501606"/>
            <a:ext cx="1972733" cy="481753"/>
          </a:xfrm>
          <a:custGeom>
            <a:avLst/>
            <a:gdLst/>
            <a:ahLst/>
            <a:cxnLst/>
            <a:rect l="l" t="t" r="r" b="b"/>
            <a:pathLst>
              <a:path w="1479550" h="361314">
                <a:moveTo>
                  <a:pt x="1453673" y="360758"/>
                </a:moveTo>
                <a:lnTo>
                  <a:pt x="24928" y="63685"/>
                </a:lnTo>
                <a:lnTo>
                  <a:pt x="0" y="38353"/>
                </a:lnTo>
                <a:lnTo>
                  <a:pt x="149" y="25572"/>
                </a:lnTo>
                <a:lnTo>
                  <a:pt x="32118" y="0"/>
                </a:lnTo>
                <a:lnTo>
                  <a:pt x="38428" y="685"/>
                </a:lnTo>
                <a:lnTo>
                  <a:pt x="1454370" y="297659"/>
                </a:lnTo>
                <a:lnTo>
                  <a:pt x="1466112" y="302709"/>
                </a:lnTo>
                <a:lnTo>
                  <a:pt x="1474688" y="311561"/>
                </a:lnTo>
                <a:lnTo>
                  <a:pt x="1479299" y="322991"/>
                </a:lnTo>
                <a:lnTo>
                  <a:pt x="1479149" y="335772"/>
                </a:lnTo>
                <a:lnTo>
                  <a:pt x="1474044" y="347514"/>
                </a:lnTo>
                <a:lnTo>
                  <a:pt x="1465142" y="356109"/>
                </a:lnTo>
                <a:lnTo>
                  <a:pt x="1453673" y="360758"/>
                </a:lnTo>
                <a:close/>
              </a:path>
            </a:pathLst>
          </a:custGeom>
          <a:solidFill>
            <a:srgbClr val="6FA8D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 txBox="1"/>
          <p:nvPr/>
        </p:nvSpPr>
        <p:spPr>
          <a:xfrm>
            <a:off x="2790584" y="4072091"/>
            <a:ext cx="1039707" cy="273643"/>
          </a:xfrm>
          <a:prstGeom prst="rect">
            <a:avLst/>
          </a:prstGeom>
          <a:solidFill>
            <a:srgbClr val="6FA8DC"/>
          </a:solidFill>
        </p:spPr>
        <p:txBody>
          <a:bodyPr vert="horz" wrap="square" lIns="0" tIns="108373" rIns="0" bIns="0" rtlCol="0">
            <a:spAutoFit/>
          </a:bodyPr>
          <a:lstStyle/>
          <a:p>
            <a:pPr algn="ctr">
              <a:spcBef>
                <a:spcPts val="853"/>
              </a:spcBef>
            </a:pPr>
            <a:r>
              <a:rPr sz="1067" b="1" spc="-13" dirty="0">
                <a:latin typeface="Roboto"/>
                <a:cs typeface="Roboto"/>
              </a:rPr>
              <a:t>II</a:t>
            </a:r>
            <a:endParaRPr sz="1067">
              <a:latin typeface="Roboto"/>
              <a:cs typeface="Roboto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66059" y="3801642"/>
            <a:ext cx="288424" cy="288951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2100167" y="4606109"/>
            <a:ext cx="2555240" cy="657012"/>
          </a:xfrm>
          <a:custGeom>
            <a:avLst/>
            <a:gdLst/>
            <a:ahLst/>
            <a:cxnLst/>
            <a:rect l="l" t="t" r="r" b="b"/>
            <a:pathLst>
              <a:path w="1916429" h="492760">
                <a:moveTo>
                  <a:pt x="1915833" y="16217"/>
                </a:moveTo>
                <a:lnTo>
                  <a:pt x="1913509" y="10604"/>
                </a:lnTo>
                <a:lnTo>
                  <a:pt x="1905228" y="2324"/>
                </a:lnTo>
                <a:lnTo>
                  <a:pt x="1899615" y="0"/>
                </a:lnTo>
                <a:lnTo>
                  <a:pt x="22085" y="0"/>
                </a:lnTo>
                <a:lnTo>
                  <a:pt x="13487" y="1739"/>
                </a:lnTo>
                <a:lnTo>
                  <a:pt x="6477" y="6464"/>
                </a:lnTo>
                <a:lnTo>
                  <a:pt x="1739" y="13487"/>
                </a:lnTo>
                <a:lnTo>
                  <a:pt x="0" y="22072"/>
                </a:lnTo>
                <a:lnTo>
                  <a:pt x="0" y="470128"/>
                </a:lnTo>
                <a:lnTo>
                  <a:pt x="1739" y="478726"/>
                </a:lnTo>
                <a:lnTo>
                  <a:pt x="6477" y="485736"/>
                </a:lnTo>
                <a:lnTo>
                  <a:pt x="13487" y="490474"/>
                </a:lnTo>
                <a:lnTo>
                  <a:pt x="22085" y="492213"/>
                </a:lnTo>
                <a:lnTo>
                  <a:pt x="1893760" y="492213"/>
                </a:lnTo>
                <a:lnTo>
                  <a:pt x="1902345" y="490474"/>
                </a:lnTo>
                <a:lnTo>
                  <a:pt x="1909368" y="485736"/>
                </a:lnTo>
                <a:lnTo>
                  <a:pt x="1914093" y="478726"/>
                </a:lnTo>
                <a:lnTo>
                  <a:pt x="1915833" y="470128"/>
                </a:lnTo>
                <a:lnTo>
                  <a:pt x="1915833" y="16217"/>
                </a:lnTo>
                <a:close/>
              </a:path>
            </a:pathLst>
          </a:custGeom>
          <a:solidFill>
            <a:srgbClr val="6FA8D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 txBox="1"/>
          <p:nvPr/>
        </p:nvSpPr>
        <p:spPr>
          <a:xfrm>
            <a:off x="2433507" y="4688777"/>
            <a:ext cx="1898796" cy="3844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31693" marR="6773" indent="-515607" algn="ctr">
              <a:lnSpc>
                <a:spcPct val="117200"/>
              </a:lnSpc>
              <a:spcBef>
                <a:spcPts val="133"/>
              </a:spcBef>
            </a:pPr>
            <a:r>
              <a:rPr sz="1067" b="1" spc="-7" dirty="0">
                <a:latin typeface="Roboto"/>
                <a:cs typeface="Roboto"/>
              </a:rPr>
              <a:t>Les opérations </a:t>
            </a:r>
            <a:r>
              <a:rPr sz="1067" b="1" dirty="0">
                <a:latin typeface="Roboto"/>
                <a:cs typeface="Roboto"/>
              </a:rPr>
              <a:t>de </a:t>
            </a:r>
            <a:r>
              <a:rPr sz="1067" b="1" spc="-7" dirty="0">
                <a:latin typeface="Roboto"/>
                <a:cs typeface="Roboto"/>
              </a:rPr>
              <a:t>nettoyage </a:t>
            </a:r>
            <a:r>
              <a:rPr sz="1067" b="1" spc="-247" dirty="0">
                <a:latin typeface="Roboto"/>
                <a:cs typeface="Roboto"/>
              </a:rPr>
              <a:t> </a:t>
            </a:r>
            <a:r>
              <a:rPr sz="1067" b="1" dirty="0">
                <a:latin typeface="Roboto"/>
                <a:cs typeface="Roboto"/>
              </a:rPr>
              <a:t>effectuées.</a:t>
            </a:r>
            <a:endParaRPr sz="1067" dirty="0">
              <a:latin typeface="Roboto"/>
              <a:cs typeface="Robot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43167" y="4472894"/>
            <a:ext cx="134620" cy="100753"/>
          </a:xfrm>
          <a:custGeom>
            <a:avLst/>
            <a:gdLst/>
            <a:ahLst/>
            <a:cxnLst/>
            <a:rect l="l" t="t" r="r" b="b"/>
            <a:pathLst>
              <a:path w="100964" h="75564">
                <a:moveTo>
                  <a:pt x="100673" y="75492"/>
                </a:moveTo>
                <a:lnTo>
                  <a:pt x="0" y="75492"/>
                </a:lnTo>
                <a:lnTo>
                  <a:pt x="50336" y="0"/>
                </a:lnTo>
                <a:lnTo>
                  <a:pt x="100673" y="75492"/>
                </a:lnTo>
                <a:close/>
              </a:path>
            </a:pathLst>
          </a:custGeom>
          <a:solidFill>
            <a:srgbClr val="6FA8D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0" y="2507598"/>
            <a:ext cx="2555240" cy="412327"/>
          </a:xfrm>
          <a:custGeom>
            <a:avLst/>
            <a:gdLst/>
            <a:ahLst/>
            <a:cxnLst/>
            <a:rect l="l" t="t" r="r" b="b"/>
            <a:pathLst>
              <a:path w="1916430" h="309244">
                <a:moveTo>
                  <a:pt x="1909627" y="308678"/>
                </a:moveTo>
                <a:lnTo>
                  <a:pt x="6198" y="308678"/>
                </a:lnTo>
                <a:lnTo>
                  <a:pt x="0" y="302479"/>
                </a:lnTo>
                <a:lnTo>
                  <a:pt x="0" y="13844"/>
                </a:lnTo>
                <a:lnTo>
                  <a:pt x="0" y="6198"/>
                </a:lnTo>
                <a:lnTo>
                  <a:pt x="6198" y="0"/>
                </a:lnTo>
                <a:lnTo>
                  <a:pt x="1905653" y="0"/>
                </a:lnTo>
                <a:lnTo>
                  <a:pt x="1909174" y="1458"/>
                </a:lnTo>
                <a:lnTo>
                  <a:pt x="1914367" y="6651"/>
                </a:lnTo>
                <a:lnTo>
                  <a:pt x="1915826" y="10172"/>
                </a:lnTo>
                <a:lnTo>
                  <a:pt x="1915826" y="302479"/>
                </a:lnTo>
                <a:lnTo>
                  <a:pt x="1909627" y="308678"/>
                </a:lnTo>
                <a:close/>
              </a:path>
            </a:pathLst>
          </a:custGeom>
          <a:solidFill>
            <a:srgbClr val="6FA8D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 txBox="1"/>
          <p:nvPr/>
        </p:nvSpPr>
        <p:spPr>
          <a:xfrm>
            <a:off x="681366" y="3012711"/>
            <a:ext cx="1039707" cy="273643"/>
          </a:xfrm>
          <a:prstGeom prst="rect">
            <a:avLst/>
          </a:prstGeom>
          <a:solidFill>
            <a:srgbClr val="6FA8DC"/>
          </a:solidFill>
        </p:spPr>
        <p:txBody>
          <a:bodyPr vert="horz" wrap="square" lIns="0" tIns="108373" rIns="0" bIns="0" rtlCol="0">
            <a:spAutoFit/>
          </a:bodyPr>
          <a:lstStyle/>
          <a:p>
            <a:pPr algn="ctr">
              <a:spcBef>
                <a:spcPts val="853"/>
              </a:spcBef>
            </a:pPr>
            <a:r>
              <a:rPr sz="1067" b="1" spc="-7" dirty="0">
                <a:latin typeface="Roboto"/>
                <a:cs typeface="Roboto"/>
              </a:rPr>
              <a:t>I</a:t>
            </a:r>
            <a:endParaRPr sz="1067">
              <a:latin typeface="Roboto"/>
              <a:cs typeface="Robot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2537912"/>
            <a:ext cx="2423160" cy="466513"/>
          </a:xfrm>
          <a:custGeom>
            <a:avLst/>
            <a:gdLst/>
            <a:ahLst/>
            <a:cxnLst/>
            <a:rect l="l" t="t" r="r" b="b"/>
            <a:pathLst>
              <a:path w="1817370" h="349885">
                <a:moveTo>
                  <a:pt x="958710" y="274167"/>
                </a:moveTo>
                <a:lnTo>
                  <a:pt x="858037" y="274167"/>
                </a:lnTo>
                <a:lnTo>
                  <a:pt x="908380" y="349656"/>
                </a:lnTo>
                <a:lnTo>
                  <a:pt x="958710" y="274167"/>
                </a:lnTo>
                <a:close/>
              </a:path>
              <a:path w="1817370" h="349885">
                <a:moveTo>
                  <a:pt x="1816823" y="0"/>
                </a:moveTo>
                <a:lnTo>
                  <a:pt x="0" y="0"/>
                </a:lnTo>
                <a:lnTo>
                  <a:pt x="0" y="250621"/>
                </a:lnTo>
                <a:lnTo>
                  <a:pt x="1816823" y="250621"/>
                </a:lnTo>
                <a:lnTo>
                  <a:pt x="1816823" y="0"/>
                </a:lnTo>
                <a:close/>
              </a:path>
            </a:pathLst>
          </a:custGeom>
          <a:solidFill>
            <a:srgbClr val="6FA8D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 txBox="1"/>
          <p:nvPr/>
        </p:nvSpPr>
        <p:spPr>
          <a:xfrm>
            <a:off x="419080" y="2523363"/>
            <a:ext cx="1935480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fr-FR" sz="1067" b="1" spc="-13" dirty="0">
                <a:latin typeface="Roboto"/>
                <a:cs typeface="Roboto"/>
              </a:rPr>
              <a:t>P</a:t>
            </a:r>
            <a:r>
              <a:rPr lang="fr-FR" sz="1067" b="1" spc="-7" dirty="0">
                <a:latin typeface="Roboto"/>
                <a:cs typeface="Roboto"/>
              </a:rPr>
              <a:t>résentation</a:t>
            </a:r>
            <a:r>
              <a:rPr sz="1067" b="1" spc="-33" dirty="0">
                <a:latin typeface="Roboto"/>
                <a:cs typeface="Roboto"/>
              </a:rPr>
              <a:t> </a:t>
            </a:r>
            <a:r>
              <a:rPr sz="1067" b="1" dirty="0">
                <a:latin typeface="Roboto"/>
                <a:cs typeface="Roboto"/>
              </a:rPr>
              <a:t>de</a:t>
            </a:r>
            <a:r>
              <a:rPr sz="1067" b="1" spc="-33" dirty="0">
                <a:latin typeface="Roboto"/>
                <a:cs typeface="Roboto"/>
              </a:rPr>
              <a:t> </a:t>
            </a:r>
            <a:r>
              <a:rPr sz="1067" b="1" spc="-13" dirty="0">
                <a:latin typeface="Roboto"/>
                <a:cs typeface="Roboto"/>
              </a:rPr>
              <a:t>l’application</a:t>
            </a:r>
            <a:endParaRPr sz="1067" dirty="0">
              <a:latin typeface="Roboto"/>
              <a:cs typeface="Robo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42608" y="3190719"/>
            <a:ext cx="8048413" cy="492760"/>
            <a:chOff x="931956" y="2393039"/>
            <a:chExt cx="6036310" cy="369570"/>
          </a:xfrm>
        </p:grpSpPr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1956" y="2545439"/>
              <a:ext cx="216318" cy="21671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51765" y="2393039"/>
              <a:ext cx="216318" cy="216713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9092161" y="2872852"/>
            <a:ext cx="122767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b="1" spc="13" dirty="0">
                <a:solidFill>
                  <a:srgbClr val="5E5E5E"/>
                </a:solidFill>
                <a:latin typeface="Roboto"/>
                <a:cs typeface="Roboto"/>
              </a:rPr>
              <a:t>V</a:t>
            </a:r>
            <a:endParaRPr sz="1067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935367" y="1512033"/>
            <a:ext cx="2423160" cy="102487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80433" rIns="0" bIns="0" rtlCol="0">
            <a:spAutoFit/>
          </a:bodyPr>
          <a:lstStyle/>
          <a:p>
            <a:pPr marL="150703" marR="140543" algn="ctr">
              <a:lnSpc>
                <a:spcPct val="117200"/>
              </a:lnSpc>
              <a:spcBef>
                <a:spcPts val="633"/>
              </a:spcBef>
            </a:pPr>
            <a:r>
              <a:rPr sz="1067" b="1" dirty="0">
                <a:latin typeface="Roboto"/>
                <a:cs typeface="Roboto"/>
              </a:rPr>
              <a:t>3 </a:t>
            </a:r>
            <a:r>
              <a:rPr sz="1067" b="1" spc="-7" dirty="0">
                <a:latin typeface="Roboto"/>
                <a:cs typeface="Roboto"/>
              </a:rPr>
              <a:t>observations solidement étayées </a:t>
            </a:r>
            <a:r>
              <a:rPr sz="1067" b="1" spc="-247" dirty="0">
                <a:latin typeface="Roboto"/>
                <a:cs typeface="Roboto"/>
              </a:rPr>
              <a:t> </a:t>
            </a:r>
            <a:r>
              <a:rPr sz="1067" b="1" spc="-7" dirty="0">
                <a:latin typeface="Roboto"/>
                <a:cs typeface="Roboto"/>
              </a:rPr>
              <a:t>(graphes </a:t>
            </a:r>
            <a:r>
              <a:rPr sz="1067" b="1" spc="-13" dirty="0">
                <a:latin typeface="Roboto"/>
                <a:cs typeface="Roboto"/>
              </a:rPr>
              <a:t>et/ou </a:t>
            </a:r>
            <a:r>
              <a:rPr sz="1067" b="1" spc="-7" dirty="0">
                <a:latin typeface="Roboto"/>
                <a:cs typeface="Roboto"/>
              </a:rPr>
              <a:t>tests </a:t>
            </a:r>
            <a:r>
              <a:rPr sz="1067" b="1" spc="-13" dirty="0">
                <a:latin typeface="Roboto"/>
                <a:cs typeface="Roboto"/>
              </a:rPr>
              <a:t>statistiques </a:t>
            </a:r>
            <a:r>
              <a:rPr sz="1067" b="1" spc="-7" dirty="0">
                <a:latin typeface="Roboto"/>
                <a:cs typeface="Roboto"/>
              </a:rPr>
              <a:t>à </a:t>
            </a:r>
            <a:r>
              <a:rPr sz="1067" b="1" dirty="0">
                <a:latin typeface="Roboto"/>
                <a:cs typeface="Roboto"/>
              </a:rPr>
              <a:t> </a:t>
            </a:r>
            <a:r>
              <a:rPr sz="1067" b="1" spc="-20" dirty="0">
                <a:latin typeface="Roboto"/>
                <a:cs typeface="Roboto"/>
              </a:rPr>
              <a:t>l’appui</a:t>
            </a:r>
            <a:r>
              <a:rPr sz="1067" b="1" spc="-13" dirty="0">
                <a:latin typeface="Roboto"/>
                <a:cs typeface="Roboto"/>
              </a:rPr>
              <a:t> </a:t>
            </a:r>
            <a:r>
              <a:rPr sz="1067" b="1" spc="-7" dirty="0">
                <a:latin typeface="Roboto"/>
                <a:cs typeface="Roboto"/>
              </a:rPr>
              <a:t>au besoin)</a:t>
            </a:r>
            <a:r>
              <a:rPr sz="1067" b="1" spc="-13" dirty="0">
                <a:latin typeface="Roboto"/>
                <a:cs typeface="Roboto"/>
              </a:rPr>
              <a:t> évaluant</a:t>
            </a:r>
            <a:r>
              <a:rPr sz="1067" b="1" spc="-7" dirty="0">
                <a:latin typeface="Roboto"/>
                <a:cs typeface="Roboto"/>
              </a:rPr>
              <a:t> </a:t>
            </a:r>
            <a:r>
              <a:rPr sz="1067" b="1" spc="-13" dirty="0">
                <a:latin typeface="Roboto"/>
                <a:cs typeface="Roboto"/>
              </a:rPr>
              <a:t>la </a:t>
            </a:r>
            <a:r>
              <a:rPr sz="1067" b="1" spc="-7" dirty="0">
                <a:latin typeface="Roboto"/>
                <a:cs typeface="Roboto"/>
              </a:rPr>
              <a:t> </a:t>
            </a:r>
            <a:r>
              <a:rPr sz="1067" b="1" dirty="0">
                <a:latin typeface="Roboto"/>
                <a:cs typeface="Roboto"/>
              </a:rPr>
              <a:t>pertinence et </a:t>
            </a:r>
            <a:r>
              <a:rPr sz="1067" b="1" spc="-7" dirty="0">
                <a:latin typeface="Roboto"/>
                <a:cs typeface="Roboto"/>
              </a:rPr>
              <a:t>la faisabilité </a:t>
            </a:r>
            <a:r>
              <a:rPr sz="1067" b="1" dirty="0">
                <a:latin typeface="Roboto"/>
                <a:cs typeface="Roboto"/>
              </a:rPr>
              <a:t>de </a:t>
            </a:r>
            <a:r>
              <a:rPr sz="1067" b="1" spc="-7" dirty="0">
                <a:latin typeface="Roboto"/>
                <a:cs typeface="Roboto"/>
              </a:rPr>
              <a:t> </a:t>
            </a:r>
            <a:r>
              <a:rPr lang="fr-FR" sz="1067" b="1" spc="-7" dirty="0">
                <a:latin typeface="Roboto"/>
                <a:cs typeface="Roboto"/>
              </a:rPr>
              <a:t>l’</a:t>
            </a:r>
            <a:r>
              <a:rPr sz="1067" b="1" spc="-247" dirty="0">
                <a:latin typeface="Roboto"/>
                <a:cs typeface="Roboto"/>
              </a:rPr>
              <a:t> </a:t>
            </a:r>
            <a:r>
              <a:rPr sz="1067" b="1" spc="-13" dirty="0">
                <a:latin typeface="Roboto"/>
                <a:cs typeface="Roboto"/>
              </a:rPr>
              <a:t>application.</a:t>
            </a:r>
            <a:endParaRPr sz="1067" dirty="0"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823599" y="3013401"/>
            <a:ext cx="2210647" cy="640667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80433" rIns="0" bIns="0" rtlCol="0">
            <a:spAutoFit/>
          </a:bodyPr>
          <a:lstStyle/>
          <a:p>
            <a:pPr marL="179489" marR="169329" indent="-5080" algn="ctr">
              <a:lnSpc>
                <a:spcPct val="117200"/>
              </a:lnSpc>
              <a:spcBef>
                <a:spcPts val="633"/>
              </a:spcBef>
            </a:pPr>
            <a:r>
              <a:rPr sz="1067" b="1" spc="-7" dirty="0">
                <a:latin typeface="Arial"/>
                <a:cs typeface="Arial"/>
              </a:rPr>
              <a:t>Synthèse des différentes </a:t>
            </a:r>
            <a:r>
              <a:rPr sz="1067" b="1" dirty="0">
                <a:latin typeface="Arial"/>
                <a:cs typeface="Arial"/>
              </a:rPr>
              <a:t> </a:t>
            </a:r>
            <a:r>
              <a:rPr sz="1067" b="1" spc="-7" dirty="0">
                <a:latin typeface="Arial"/>
                <a:cs typeface="Arial"/>
              </a:rPr>
              <a:t>conclusions</a:t>
            </a:r>
            <a:r>
              <a:rPr sz="1067" b="1" spc="-40" dirty="0">
                <a:latin typeface="Arial"/>
                <a:cs typeface="Arial"/>
              </a:rPr>
              <a:t> </a:t>
            </a:r>
            <a:r>
              <a:rPr sz="1067" b="1" spc="-7" dirty="0">
                <a:latin typeface="Arial"/>
                <a:cs typeface="Arial"/>
              </a:rPr>
              <a:t>sur</a:t>
            </a:r>
            <a:r>
              <a:rPr sz="1067" b="1" spc="-40" dirty="0">
                <a:latin typeface="Arial"/>
                <a:cs typeface="Arial"/>
              </a:rPr>
              <a:t> </a:t>
            </a:r>
            <a:r>
              <a:rPr sz="1067" b="1" spc="-7" dirty="0">
                <a:latin typeface="Arial"/>
                <a:cs typeface="Arial"/>
              </a:rPr>
              <a:t>la</a:t>
            </a:r>
            <a:r>
              <a:rPr sz="1067" b="1" spc="-40" dirty="0">
                <a:latin typeface="Arial"/>
                <a:cs typeface="Arial"/>
              </a:rPr>
              <a:t> </a:t>
            </a:r>
            <a:r>
              <a:rPr sz="1067" b="1" dirty="0">
                <a:latin typeface="Arial"/>
                <a:cs typeface="Arial"/>
              </a:rPr>
              <a:t>faisabilité </a:t>
            </a:r>
            <a:r>
              <a:rPr sz="1067" b="1" spc="-280" dirty="0">
                <a:latin typeface="Arial"/>
                <a:cs typeface="Arial"/>
              </a:rPr>
              <a:t> </a:t>
            </a:r>
            <a:r>
              <a:rPr sz="1067" b="1" spc="-7" dirty="0">
                <a:latin typeface="Arial"/>
                <a:cs typeface="Arial"/>
              </a:rPr>
              <a:t>du</a:t>
            </a:r>
            <a:r>
              <a:rPr sz="1067" b="1" spc="280" dirty="0">
                <a:latin typeface="Arial"/>
                <a:cs typeface="Arial"/>
              </a:rPr>
              <a:t> </a:t>
            </a:r>
            <a:r>
              <a:rPr sz="1067" b="1" spc="-7" dirty="0">
                <a:latin typeface="Arial"/>
                <a:cs typeface="Arial"/>
              </a:rPr>
              <a:t>projet.</a:t>
            </a:r>
            <a:endParaRPr sz="1067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0714" y="653021"/>
            <a:ext cx="4524587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80" dirty="0"/>
              <a:t>Objectifs</a:t>
            </a:r>
            <a:r>
              <a:rPr spc="-220" dirty="0"/>
              <a:t> </a:t>
            </a:r>
            <a:r>
              <a:rPr spc="152" dirty="0"/>
              <a:t>du</a:t>
            </a:r>
            <a:r>
              <a:rPr spc="-213" dirty="0"/>
              <a:t> </a:t>
            </a:r>
            <a:r>
              <a:rPr spc="167" dirty="0"/>
              <a:t>Projet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414816" y="2450050"/>
            <a:ext cx="789093" cy="2706793"/>
            <a:chOff x="311112" y="1837537"/>
            <a:chExt cx="591820" cy="2030095"/>
          </a:xfrm>
        </p:grpSpPr>
        <p:sp>
          <p:nvSpPr>
            <p:cNvPr id="4" name="object 4"/>
            <p:cNvSpPr/>
            <p:nvPr/>
          </p:nvSpPr>
          <p:spPr>
            <a:xfrm>
              <a:off x="315875" y="1842299"/>
              <a:ext cx="582295" cy="2020570"/>
            </a:xfrm>
            <a:custGeom>
              <a:avLst/>
              <a:gdLst/>
              <a:ahLst/>
              <a:cxnLst/>
              <a:rect l="l" t="t" r="r" b="b"/>
              <a:pathLst>
                <a:path w="582294" h="2020570">
                  <a:moveTo>
                    <a:pt x="484748" y="2020199"/>
                  </a:moveTo>
                  <a:lnTo>
                    <a:pt x="96951" y="2020199"/>
                  </a:lnTo>
                  <a:lnTo>
                    <a:pt x="59213" y="2012581"/>
                  </a:lnTo>
                  <a:lnTo>
                    <a:pt x="28396" y="1991803"/>
                  </a:lnTo>
                  <a:lnTo>
                    <a:pt x="7618" y="1960986"/>
                  </a:lnTo>
                  <a:lnTo>
                    <a:pt x="0" y="1923247"/>
                  </a:lnTo>
                  <a:lnTo>
                    <a:pt x="0" y="96951"/>
                  </a:lnTo>
                  <a:lnTo>
                    <a:pt x="16289" y="43162"/>
                  </a:lnTo>
                  <a:lnTo>
                    <a:pt x="59850" y="7379"/>
                  </a:lnTo>
                  <a:lnTo>
                    <a:pt x="96951" y="0"/>
                  </a:lnTo>
                  <a:lnTo>
                    <a:pt x="484748" y="0"/>
                  </a:lnTo>
                  <a:lnTo>
                    <a:pt x="522486" y="7618"/>
                  </a:lnTo>
                  <a:lnTo>
                    <a:pt x="553303" y="28396"/>
                  </a:lnTo>
                  <a:lnTo>
                    <a:pt x="574081" y="59213"/>
                  </a:lnTo>
                  <a:lnTo>
                    <a:pt x="581699" y="96951"/>
                  </a:lnTo>
                  <a:lnTo>
                    <a:pt x="581699" y="1923247"/>
                  </a:lnTo>
                  <a:lnTo>
                    <a:pt x="574081" y="1960986"/>
                  </a:lnTo>
                  <a:lnTo>
                    <a:pt x="553303" y="1991803"/>
                  </a:lnTo>
                  <a:lnTo>
                    <a:pt x="522486" y="2012581"/>
                  </a:lnTo>
                  <a:lnTo>
                    <a:pt x="484748" y="2020199"/>
                  </a:lnTo>
                  <a:close/>
                </a:path>
              </a:pathLst>
            </a:custGeom>
            <a:solidFill>
              <a:srgbClr val="840D35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315875" y="1842299"/>
              <a:ext cx="582295" cy="2020570"/>
            </a:xfrm>
            <a:custGeom>
              <a:avLst/>
              <a:gdLst/>
              <a:ahLst/>
              <a:cxnLst/>
              <a:rect l="l" t="t" r="r" b="b"/>
              <a:pathLst>
                <a:path w="582294" h="2020570">
                  <a:moveTo>
                    <a:pt x="96951" y="2020199"/>
                  </a:moveTo>
                  <a:lnTo>
                    <a:pt x="59213" y="2012581"/>
                  </a:lnTo>
                  <a:lnTo>
                    <a:pt x="28396" y="1991803"/>
                  </a:lnTo>
                  <a:lnTo>
                    <a:pt x="7618" y="1960986"/>
                  </a:lnTo>
                  <a:lnTo>
                    <a:pt x="0" y="1923247"/>
                  </a:lnTo>
                  <a:lnTo>
                    <a:pt x="0" y="96951"/>
                  </a:lnTo>
                  <a:lnTo>
                    <a:pt x="16289" y="43162"/>
                  </a:lnTo>
                  <a:lnTo>
                    <a:pt x="59850" y="7379"/>
                  </a:lnTo>
                  <a:lnTo>
                    <a:pt x="96951" y="0"/>
                  </a:lnTo>
                  <a:lnTo>
                    <a:pt x="484748" y="0"/>
                  </a:lnTo>
                  <a:lnTo>
                    <a:pt x="522486" y="7618"/>
                  </a:lnTo>
                  <a:lnTo>
                    <a:pt x="553303" y="28396"/>
                  </a:lnTo>
                  <a:lnTo>
                    <a:pt x="574081" y="59213"/>
                  </a:lnTo>
                  <a:lnTo>
                    <a:pt x="581699" y="96951"/>
                  </a:lnTo>
                  <a:lnTo>
                    <a:pt x="581699" y="1923247"/>
                  </a:lnTo>
                  <a:lnTo>
                    <a:pt x="574081" y="1960986"/>
                  </a:lnTo>
                  <a:lnTo>
                    <a:pt x="553303" y="1991803"/>
                  </a:lnTo>
                  <a:lnTo>
                    <a:pt x="522486" y="2012581"/>
                  </a:lnTo>
                  <a:lnTo>
                    <a:pt x="484748" y="2020199"/>
                  </a:lnTo>
                  <a:lnTo>
                    <a:pt x="96951" y="2020199"/>
                  </a:lnTo>
                  <a:close/>
                </a:path>
              </a:pathLst>
            </a:custGeom>
            <a:ln w="9524">
              <a:solidFill>
                <a:srgbClr val="840D35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48624" y="2612023"/>
            <a:ext cx="615553" cy="2382519"/>
          </a:xfrm>
          <a:prstGeom prst="rect">
            <a:avLst/>
          </a:prstGeom>
        </p:spPr>
        <p:txBody>
          <a:bodyPr vert="vert270" wrap="square" lIns="0" tIns="34712" rIns="0" bIns="0" rtlCol="0">
            <a:spAutoFit/>
          </a:bodyPr>
          <a:lstStyle/>
          <a:p>
            <a:pPr marL="16933">
              <a:spcBef>
                <a:spcPts val="272"/>
              </a:spcBef>
            </a:pPr>
            <a:r>
              <a:rPr sz="4000" dirty="0">
                <a:solidFill>
                  <a:srgbClr val="FF5722"/>
                </a:solidFill>
                <a:latin typeface="Verdana"/>
                <a:cs typeface="Verdana"/>
              </a:rPr>
              <a:t>Objectifs</a:t>
            </a:r>
            <a:endParaRPr sz="40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53450" y="1508150"/>
            <a:ext cx="5785273" cy="471593"/>
            <a:chOff x="640087" y="1131112"/>
            <a:chExt cx="4338955" cy="353695"/>
          </a:xfrm>
        </p:grpSpPr>
        <p:sp>
          <p:nvSpPr>
            <p:cNvPr id="8" name="object 8"/>
            <p:cNvSpPr/>
            <p:nvPr/>
          </p:nvSpPr>
          <p:spPr>
            <a:xfrm>
              <a:off x="644849" y="1135874"/>
              <a:ext cx="4329430" cy="344170"/>
            </a:xfrm>
            <a:custGeom>
              <a:avLst/>
              <a:gdLst/>
              <a:ahLst/>
              <a:cxnLst/>
              <a:rect l="l" t="t" r="r" b="b"/>
              <a:pathLst>
                <a:path w="4329430" h="344169">
                  <a:moveTo>
                    <a:pt x="4271698" y="343799"/>
                  </a:moveTo>
                  <a:lnTo>
                    <a:pt x="57301" y="343799"/>
                  </a:lnTo>
                  <a:lnTo>
                    <a:pt x="34996" y="339296"/>
                  </a:lnTo>
                  <a:lnTo>
                    <a:pt x="16783" y="327016"/>
                  </a:lnTo>
                  <a:lnTo>
                    <a:pt x="4503" y="308803"/>
                  </a:lnTo>
                  <a:lnTo>
                    <a:pt x="0" y="286498"/>
                  </a:lnTo>
                  <a:lnTo>
                    <a:pt x="0" y="57301"/>
                  </a:lnTo>
                  <a:lnTo>
                    <a:pt x="4503" y="34996"/>
                  </a:lnTo>
                  <a:lnTo>
                    <a:pt x="16783" y="16783"/>
                  </a:lnTo>
                  <a:lnTo>
                    <a:pt x="34996" y="4503"/>
                  </a:lnTo>
                  <a:lnTo>
                    <a:pt x="57301" y="0"/>
                  </a:lnTo>
                  <a:lnTo>
                    <a:pt x="4271698" y="0"/>
                  </a:lnTo>
                  <a:lnTo>
                    <a:pt x="4312216" y="16783"/>
                  </a:lnTo>
                  <a:lnTo>
                    <a:pt x="4328999" y="57301"/>
                  </a:lnTo>
                  <a:lnTo>
                    <a:pt x="4328999" y="286498"/>
                  </a:lnTo>
                  <a:lnTo>
                    <a:pt x="4324496" y="308803"/>
                  </a:lnTo>
                  <a:lnTo>
                    <a:pt x="4312216" y="327016"/>
                  </a:lnTo>
                  <a:lnTo>
                    <a:pt x="4294002" y="339296"/>
                  </a:lnTo>
                  <a:lnTo>
                    <a:pt x="4271698" y="343799"/>
                  </a:lnTo>
                  <a:close/>
                </a:path>
              </a:pathLst>
            </a:custGeom>
            <a:solidFill>
              <a:srgbClr val="3D85C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644849" y="1135874"/>
              <a:ext cx="4329430" cy="344170"/>
            </a:xfrm>
            <a:custGeom>
              <a:avLst/>
              <a:gdLst/>
              <a:ahLst/>
              <a:cxnLst/>
              <a:rect l="l" t="t" r="r" b="b"/>
              <a:pathLst>
                <a:path w="4329430" h="344169">
                  <a:moveTo>
                    <a:pt x="0" y="57301"/>
                  </a:moveTo>
                  <a:lnTo>
                    <a:pt x="4503" y="34996"/>
                  </a:lnTo>
                  <a:lnTo>
                    <a:pt x="16783" y="16783"/>
                  </a:lnTo>
                  <a:lnTo>
                    <a:pt x="34996" y="4503"/>
                  </a:lnTo>
                  <a:lnTo>
                    <a:pt x="57301" y="0"/>
                  </a:lnTo>
                  <a:lnTo>
                    <a:pt x="4271698" y="0"/>
                  </a:lnTo>
                  <a:lnTo>
                    <a:pt x="4312216" y="16783"/>
                  </a:lnTo>
                  <a:lnTo>
                    <a:pt x="4328999" y="57301"/>
                  </a:lnTo>
                  <a:lnTo>
                    <a:pt x="4328999" y="286498"/>
                  </a:lnTo>
                  <a:lnTo>
                    <a:pt x="4324496" y="308803"/>
                  </a:lnTo>
                  <a:lnTo>
                    <a:pt x="4312216" y="327016"/>
                  </a:lnTo>
                  <a:lnTo>
                    <a:pt x="4294002" y="339296"/>
                  </a:lnTo>
                  <a:lnTo>
                    <a:pt x="4271698" y="343799"/>
                  </a:lnTo>
                  <a:lnTo>
                    <a:pt x="57301" y="343799"/>
                  </a:lnTo>
                  <a:lnTo>
                    <a:pt x="34996" y="339296"/>
                  </a:lnTo>
                  <a:lnTo>
                    <a:pt x="16783" y="327016"/>
                  </a:lnTo>
                  <a:lnTo>
                    <a:pt x="4503" y="308803"/>
                  </a:lnTo>
                  <a:lnTo>
                    <a:pt x="0" y="286498"/>
                  </a:lnTo>
                  <a:lnTo>
                    <a:pt x="0" y="57301"/>
                  </a:lnTo>
                  <a:close/>
                </a:path>
              </a:pathLst>
            </a:custGeom>
            <a:ln w="9524">
              <a:solidFill>
                <a:srgbClr val="3C78D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43081" y="1524167"/>
            <a:ext cx="5075767" cy="4686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solidFill>
                  <a:srgbClr val="FFFFFF"/>
                </a:solidFill>
                <a:latin typeface="Roboto"/>
                <a:cs typeface="Roboto"/>
              </a:rPr>
              <a:t>Répondre</a:t>
            </a:r>
            <a:r>
              <a:rPr sz="1467" b="1" spc="-13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67" b="1" spc="-7" dirty="0">
                <a:solidFill>
                  <a:srgbClr val="FFFFFF"/>
                </a:solidFill>
                <a:latin typeface="Roboto"/>
                <a:cs typeface="Roboto"/>
              </a:rPr>
              <a:t>à </a:t>
            </a:r>
            <a:r>
              <a:rPr sz="1467" b="1" spc="-20" dirty="0">
                <a:solidFill>
                  <a:srgbClr val="FFFFFF"/>
                </a:solidFill>
                <a:latin typeface="Roboto"/>
                <a:cs typeface="Roboto"/>
              </a:rPr>
              <a:t>l’appel</a:t>
            </a:r>
            <a:r>
              <a:rPr sz="1467" b="1" spc="-7" dirty="0">
                <a:solidFill>
                  <a:srgbClr val="FFFFFF"/>
                </a:solidFill>
                <a:latin typeface="Roboto"/>
                <a:cs typeface="Roboto"/>
              </a:rPr>
              <a:t> à projets lancé </a:t>
            </a:r>
            <a:r>
              <a:rPr sz="1467" b="1" dirty="0">
                <a:solidFill>
                  <a:srgbClr val="FFFFFF"/>
                </a:solidFill>
                <a:latin typeface="Roboto"/>
                <a:cs typeface="Roboto"/>
              </a:rPr>
              <a:t>par</a:t>
            </a:r>
            <a:r>
              <a:rPr sz="1467" b="1" spc="-13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67" b="1" spc="-7" dirty="0">
                <a:solidFill>
                  <a:srgbClr val="FFFFFF"/>
                </a:solidFill>
                <a:latin typeface="Roboto"/>
                <a:cs typeface="Roboto"/>
              </a:rPr>
              <a:t>Santé publique </a:t>
            </a:r>
            <a:r>
              <a:rPr sz="1467" b="1" spc="-13" dirty="0">
                <a:solidFill>
                  <a:srgbClr val="FFFFFF"/>
                </a:solidFill>
                <a:latin typeface="Roboto"/>
                <a:cs typeface="Roboto"/>
              </a:rPr>
              <a:t>France</a:t>
            </a:r>
            <a:endParaRPr sz="1467" dirty="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55369" y="3108890"/>
            <a:ext cx="6854613" cy="1187873"/>
            <a:chOff x="942062" y="2272937"/>
            <a:chExt cx="5140960" cy="890905"/>
          </a:xfrm>
        </p:grpSpPr>
        <p:sp>
          <p:nvSpPr>
            <p:cNvPr id="12" name="object 12"/>
            <p:cNvSpPr/>
            <p:nvPr/>
          </p:nvSpPr>
          <p:spPr>
            <a:xfrm>
              <a:off x="946824" y="2277699"/>
              <a:ext cx="4519295" cy="385445"/>
            </a:xfrm>
            <a:custGeom>
              <a:avLst/>
              <a:gdLst/>
              <a:ahLst/>
              <a:cxnLst/>
              <a:rect l="l" t="t" r="r" b="b"/>
              <a:pathLst>
                <a:path w="4519295" h="385444">
                  <a:moveTo>
                    <a:pt x="4454698" y="385199"/>
                  </a:moveTo>
                  <a:lnTo>
                    <a:pt x="64201" y="385199"/>
                  </a:lnTo>
                  <a:lnTo>
                    <a:pt x="39211" y="380154"/>
                  </a:lnTo>
                  <a:lnTo>
                    <a:pt x="18804" y="366395"/>
                  </a:lnTo>
                  <a:lnTo>
                    <a:pt x="5045" y="345988"/>
                  </a:lnTo>
                  <a:lnTo>
                    <a:pt x="0" y="320998"/>
                  </a:lnTo>
                  <a:lnTo>
                    <a:pt x="0" y="64201"/>
                  </a:lnTo>
                  <a:lnTo>
                    <a:pt x="5045" y="39211"/>
                  </a:lnTo>
                  <a:lnTo>
                    <a:pt x="18804" y="18804"/>
                  </a:lnTo>
                  <a:lnTo>
                    <a:pt x="39211" y="5045"/>
                  </a:lnTo>
                  <a:lnTo>
                    <a:pt x="64201" y="0"/>
                  </a:lnTo>
                  <a:lnTo>
                    <a:pt x="4454698" y="0"/>
                  </a:lnTo>
                  <a:lnTo>
                    <a:pt x="4500095" y="18804"/>
                  </a:lnTo>
                  <a:lnTo>
                    <a:pt x="4518899" y="64201"/>
                  </a:lnTo>
                  <a:lnTo>
                    <a:pt x="4518899" y="320998"/>
                  </a:lnTo>
                  <a:lnTo>
                    <a:pt x="4513854" y="345988"/>
                  </a:lnTo>
                  <a:lnTo>
                    <a:pt x="4500095" y="366395"/>
                  </a:lnTo>
                  <a:lnTo>
                    <a:pt x="4479688" y="380154"/>
                  </a:lnTo>
                  <a:lnTo>
                    <a:pt x="4454698" y="385199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946824" y="2277699"/>
              <a:ext cx="4519295" cy="385445"/>
            </a:xfrm>
            <a:custGeom>
              <a:avLst/>
              <a:gdLst/>
              <a:ahLst/>
              <a:cxnLst/>
              <a:rect l="l" t="t" r="r" b="b"/>
              <a:pathLst>
                <a:path w="4519295" h="385444">
                  <a:moveTo>
                    <a:pt x="0" y="64201"/>
                  </a:moveTo>
                  <a:lnTo>
                    <a:pt x="5045" y="39211"/>
                  </a:lnTo>
                  <a:lnTo>
                    <a:pt x="18804" y="18804"/>
                  </a:lnTo>
                  <a:lnTo>
                    <a:pt x="39211" y="5045"/>
                  </a:lnTo>
                  <a:lnTo>
                    <a:pt x="64201" y="0"/>
                  </a:lnTo>
                  <a:lnTo>
                    <a:pt x="4454698" y="0"/>
                  </a:lnTo>
                  <a:lnTo>
                    <a:pt x="4500095" y="18804"/>
                  </a:lnTo>
                  <a:lnTo>
                    <a:pt x="4518899" y="64201"/>
                  </a:lnTo>
                  <a:lnTo>
                    <a:pt x="4518899" y="320998"/>
                  </a:lnTo>
                  <a:lnTo>
                    <a:pt x="4513854" y="345988"/>
                  </a:lnTo>
                  <a:lnTo>
                    <a:pt x="4500095" y="366395"/>
                  </a:lnTo>
                  <a:lnTo>
                    <a:pt x="4479688" y="380154"/>
                  </a:lnTo>
                  <a:lnTo>
                    <a:pt x="4454698" y="385199"/>
                  </a:lnTo>
                  <a:lnTo>
                    <a:pt x="64201" y="385199"/>
                  </a:lnTo>
                  <a:lnTo>
                    <a:pt x="39211" y="380154"/>
                  </a:lnTo>
                  <a:lnTo>
                    <a:pt x="18804" y="366395"/>
                  </a:lnTo>
                  <a:lnTo>
                    <a:pt x="5045" y="345988"/>
                  </a:lnTo>
                  <a:lnTo>
                    <a:pt x="0" y="320998"/>
                  </a:lnTo>
                  <a:lnTo>
                    <a:pt x="0" y="64201"/>
                  </a:lnTo>
                  <a:close/>
                </a:path>
              </a:pathLst>
            </a:custGeom>
            <a:ln w="9524">
              <a:solidFill>
                <a:srgbClr val="E1165A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1919324" y="2814849"/>
              <a:ext cx="4159250" cy="344170"/>
            </a:xfrm>
            <a:custGeom>
              <a:avLst/>
              <a:gdLst/>
              <a:ahLst/>
              <a:cxnLst/>
              <a:rect l="l" t="t" r="r" b="b"/>
              <a:pathLst>
                <a:path w="4159250" h="344169">
                  <a:moveTo>
                    <a:pt x="4101598" y="343799"/>
                  </a:moveTo>
                  <a:lnTo>
                    <a:pt x="57301" y="343799"/>
                  </a:lnTo>
                  <a:lnTo>
                    <a:pt x="34997" y="339296"/>
                  </a:lnTo>
                  <a:lnTo>
                    <a:pt x="16783" y="327016"/>
                  </a:lnTo>
                  <a:lnTo>
                    <a:pt x="4503" y="308802"/>
                  </a:lnTo>
                  <a:lnTo>
                    <a:pt x="0" y="286498"/>
                  </a:lnTo>
                  <a:lnTo>
                    <a:pt x="0" y="57301"/>
                  </a:lnTo>
                  <a:lnTo>
                    <a:pt x="4503" y="34997"/>
                  </a:lnTo>
                  <a:lnTo>
                    <a:pt x="16783" y="16783"/>
                  </a:lnTo>
                  <a:lnTo>
                    <a:pt x="34997" y="4503"/>
                  </a:lnTo>
                  <a:lnTo>
                    <a:pt x="57301" y="0"/>
                  </a:lnTo>
                  <a:lnTo>
                    <a:pt x="4101598" y="0"/>
                  </a:lnTo>
                  <a:lnTo>
                    <a:pt x="4142116" y="16783"/>
                  </a:lnTo>
                  <a:lnTo>
                    <a:pt x="4158899" y="57301"/>
                  </a:lnTo>
                  <a:lnTo>
                    <a:pt x="4158899" y="286498"/>
                  </a:lnTo>
                  <a:lnTo>
                    <a:pt x="4154396" y="308802"/>
                  </a:lnTo>
                  <a:lnTo>
                    <a:pt x="4142116" y="327016"/>
                  </a:lnTo>
                  <a:lnTo>
                    <a:pt x="4123902" y="339296"/>
                  </a:lnTo>
                  <a:lnTo>
                    <a:pt x="4101598" y="343799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324" y="2814849"/>
              <a:ext cx="4159250" cy="344170"/>
            </a:xfrm>
            <a:custGeom>
              <a:avLst/>
              <a:gdLst/>
              <a:ahLst/>
              <a:cxnLst/>
              <a:rect l="l" t="t" r="r" b="b"/>
              <a:pathLst>
                <a:path w="4159250" h="344169">
                  <a:moveTo>
                    <a:pt x="0" y="57301"/>
                  </a:moveTo>
                  <a:lnTo>
                    <a:pt x="4503" y="34997"/>
                  </a:lnTo>
                  <a:lnTo>
                    <a:pt x="16783" y="16783"/>
                  </a:lnTo>
                  <a:lnTo>
                    <a:pt x="34997" y="4503"/>
                  </a:lnTo>
                  <a:lnTo>
                    <a:pt x="57301" y="0"/>
                  </a:lnTo>
                  <a:lnTo>
                    <a:pt x="4101598" y="0"/>
                  </a:lnTo>
                  <a:lnTo>
                    <a:pt x="4142116" y="16783"/>
                  </a:lnTo>
                  <a:lnTo>
                    <a:pt x="4158899" y="57301"/>
                  </a:lnTo>
                  <a:lnTo>
                    <a:pt x="4158899" y="286498"/>
                  </a:lnTo>
                  <a:lnTo>
                    <a:pt x="4154396" y="308802"/>
                  </a:lnTo>
                  <a:lnTo>
                    <a:pt x="4142116" y="327016"/>
                  </a:lnTo>
                  <a:lnTo>
                    <a:pt x="4123902" y="339296"/>
                  </a:lnTo>
                  <a:lnTo>
                    <a:pt x="4101598" y="343799"/>
                  </a:lnTo>
                  <a:lnTo>
                    <a:pt x="57301" y="343799"/>
                  </a:lnTo>
                  <a:lnTo>
                    <a:pt x="34997" y="339296"/>
                  </a:lnTo>
                  <a:lnTo>
                    <a:pt x="16783" y="327016"/>
                  </a:lnTo>
                  <a:lnTo>
                    <a:pt x="4503" y="308802"/>
                  </a:lnTo>
                  <a:lnTo>
                    <a:pt x="0" y="286498"/>
                  </a:lnTo>
                  <a:lnTo>
                    <a:pt x="0" y="57301"/>
                  </a:lnTo>
                  <a:close/>
                </a:path>
              </a:pathLst>
            </a:custGeom>
            <a:ln w="9524">
              <a:solidFill>
                <a:srgbClr val="E1165A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455369" y="3155050"/>
            <a:ext cx="6459220" cy="116888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Roboto"/>
                <a:cs typeface="Roboto"/>
              </a:rPr>
              <a:t>Trouver </a:t>
            </a:r>
            <a:r>
              <a:rPr sz="1467" b="1" spc="-7" dirty="0">
                <a:latin typeface="Roboto"/>
                <a:cs typeface="Roboto"/>
              </a:rPr>
              <a:t>une</a:t>
            </a:r>
            <a:r>
              <a:rPr sz="1467" b="1" spc="7" dirty="0">
                <a:latin typeface="Roboto"/>
                <a:cs typeface="Roboto"/>
              </a:rPr>
              <a:t> idée</a:t>
            </a:r>
            <a:r>
              <a:rPr sz="1467" b="1" dirty="0">
                <a:latin typeface="Roboto"/>
                <a:cs typeface="Roboto"/>
              </a:rPr>
              <a:t> </a:t>
            </a:r>
            <a:r>
              <a:rPr sz="1467" b="1" spc="-13" dirty="0">
                <a:latin typeface="Roboto"/>
                <a:cs typeface="Roboto"/>
              </a:rPr>
              <a:t>innovante</a:t>
            </a:r>
            <a:r>
              <a:rPr sz="1467" b="1" spc="7" dirty="0">
                <a:latin typeface="Roboto"/>
                <a:cs typeface="Roboto"/>
              </a:rPr>
              <a:t> </a:t>
            </a:r>
            <a:r>
              <a:rPr sz="1467" b="1" spc="-20" dirty="0">
                <a:latin typeface="Roboto"/>
                <a:cs typeface="Roboto"/>
              </a:rPr>
              <a:t>d’application</a:t>
            </a:r>
            <a:r>
              <a:rPr sz="1467" b="1" dirty="0">
                <a:latin typeface="Roboto"/>
                <a:cs typeface="Roboto"/>
              </a:rPr>
              <a:t> en</a:t>
            </a:r>
            <a:r>
              <a:rPr sz="1467" b="1" spc="7" dirty="0">
                <a:latin typeface="Roboto"/>
                <a:cs typeface="Roboto"/>
              </a:rPr>
              <a:t> </a:t>
            </a:r>
            <a:r>
              <a:rPr sz="1467" b="1" spc="-7" dirty="0">
                <a:latin typeface="Roboto"/>
                <a:cs typeface="Roboto"/>
              </a:rPr>
              <a:t>lien</a:t>
            </a:r>
            <a:r>
              <a:rPr sz="1467" b="1" dirty="0">
                <a:latin typeface="Roboto"/>
                <a:cs typeface="Roboto"/>
              </a:rPr>
              <a:t> </a:t>
            </a:r>
            <a:r>
              <a:rPr sz="1467" b="1" spc="-7" dirty="0">
                <a:latin typeface="Roboto"/>
                <a:cs typeface="Roboto"/>
              </a:rPr>
              <a:t>avec</a:t>
            </a:r>
            <a:r>
              <a:rPr sz="1467" b="1" spc="7" dirty="0">
                <a:latin typeface="Roboto"/>
                <a:cs typeface="Roboto"/>
              </a:rPr>
              <a:t> </a:t>
            </a:r>
            <a:r>
              <a:rPr sz="1467" b="1" spc="-20" dirty="0">
                <a:latin typeface="Roboto"/>
                <a:cs typeface="Roboto"/>
              </a:rPr>
              <a:t>l’alimentation</a:t>
            </a:r>
            <a:endParaRPr sz="1467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733" dirty="0">
              <a:latin typeface="Roboto"/>
              <a:cs typeface="Roboto"/>
            </a:endParaRPr>
          </a:p>
          <a:p>
            <a:pPr>
              <a:spcBef>
                <a:spcPts val="60"/>
              </a:spcBef>
            </a:pPr>
            <a:endParaRPr sz="1267" dirty="0">
              <a:latin typeface="Roboto"/>
              <a:cs typeface="Roboto"/>
            </a:endParaRPr>
          </a:p>
          <a:p>
            <a:pPr marL="1305526"/>
            <a:r>
              <a:rPr lang="fr-FR" sz="1467" b="1" spc="-13" dirty="0">
                <a:latin typeface="Roboto"/>
                <a:cs typeface="Roboto"/>
              </a:rPr>
              <a:t> </a:t>
            </a:r>
            <a:r>
              <a:rPr sz="1467" b="1" spc="-13" dirty="0">
                <a:latin typeface="Roboto"/>
                <a:cs typeface="Roboto"/>
              </a:rPr>
              <a:t>Exploitation</a:t>
            </a:r>
            <a:r>
              <a:rPr sz="1467" b="1" spc="-7" dirty="0">
                <a:latin typeface="Roboto"/>
                <a:cs typeface="Roboto"/>
              </a:rPr>
              <a:t> </a:t>
            </a:r>
            <a:r>
              <a:rPr sz="1467" b="1" spc="-13" dirty="0">
                <a:latin typeface="Roboto"/>
                <a:cs typeface="Roboto"/>
              </a:rPr>
              <a:t>du</a:t>
            </a:r>
            <a:r>
              <a:rPr sz="1467" b="1" dirty="0">
                <a:latin typeface="Roboto"/>
                <a:cs typeface="Roboto"/>
              </a:rPr>
              <a:t> </a:t>
            </a:r>
            <a:r>
              <a:rPr sz="1467" b="1" spc="-7" dirty="0">
                <a:latin typeface="Roboto"/>
                <a:cs typeface="Roboto"/>
              </a:rPr>
              <a:t>jeu </a:t>
            </a:r>
            <a:r>
              <a:rPr sz="1467" b="1" spc="7" dirty="0">
                <a:latin typeface="Roboto"/>
                <a:cs typeface="Roboto"/>
              </a:rPr>
              <a:t>de</a:t>
            </a:r>
            <a:r>
              <a:rPr sz="1467" b="1" dirty="0">
                <a:latin typeface="Roboto"/>
                <a:cs typeface="Roboto"/>
              </a:rPr>
              <a:t> </a:t>
            </a:r>
            <a:r>
              <a:rPr sz="1467" b="1" spc="-7" dirty="0">
                <a:latin typeface="Roboto"/>
                <a:cs typeface="Roboto"/>
              </a:rPr>
              <a:t>données</a:t>
            </a:r>
            <a:r>
              <a:rPr sz="1467" b="1" dirty="0">
                <a:latin typeface="Roboto"/>
                <a:cs typeface="Roboto"/>
              </a:rPr>
              <a:t> </a:t>
            </a:r>
            <a:r>
              <a:rPr sz="1467" b="1" spc="-7" dirty="0">
                <a:latin typeface="Roboto"/>
                <a:cs typeface="Roboto"/>
              </a:rPr>
              <a:t>disponible sur</a:t>
            </a:r>
            <a:r>
              <a:rPr sz="1467" b="1" dirty="0">
                <a:latin typeface="Roboto"/>
                <a:cs typeface="Roboto"/>
              </a:rPr>
              <a:t> Open</a:t>
            </a:r>
            <a:r>
              <a:rPr sz="1467" b="1" spc="-7" dirty="0">
                <a:latin typeface="Roboto"/>
                <a:cs typeface="Roboto"/>
              </a:rPr>
              <a:t> </a:t>
            </a:r>
            <a:r>
              <a:rPr sz="1467" b="1" spc="-13" dirty="0">
                <a:latin typeface="Roboto"/>
                <a:cs typeface="Roboto"/>
              </a:rPr>
              <a:t>Food</a:t>
            </a:r>
            <a:r>
              <a:rPr sz="1467" b="1" dirty="0">
                <a:latin typeface="Roboto"/>
                <a:cs typeface="Roboto"/>
              </a:rPr>
              <a:t> </a:t>
            </a:r>
            <a:r>
              <a:rPr lang="fr-FR" sz="1467" b="1" dirty="0">
                <a:latin typeface="Roboto"/>
                <a:cs typeface="Roboto"/>
              </a:rPr>
              <a:t>  </a:t>
            </a:r>
            <a:r>
              <a:rPr sz="1467" b="1" spc="-20" dirty="0">
                <a:latin typeface="Roboto"/>
                <a:cs typeface="Roboto"/>
              </a:rPr>
              <a:t>Fact</a:t>
            </a:r>
            <a:endParaRPr sz="1467" dirty="0">
              <a:latin typeface="Roboto"/>
              <a:cs typeface="Roboto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33564" y="114312"/>
            <a:ext cx="1968305" cy="50074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968" y="189783"/>
            <a:ext cx="2792233" cy="3343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58824" y="1194018"/>
            <a:ext cx="1612389" cy="100998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23138" y="4326201"/>
            <a:ext cx="4453252" cy="22221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27529" y="561011"/>
            <a:ext cx="9110733" cy="1841374"/>
            <a:chOff x="273737" y="705274"/>
            <a:chExt cx="7870825" cy="761365"/>
          </a:xfrm>
        </p:grpSpPr>
        <p:sp>
          <p:nvSpPr>
            <p:cNvPr id="3" name="object 3"/>
            <p:cNvSpPr/>
            <p:nvPr/>
          </p:nvSpPr>
          <p:spPr>
            <a:xfrm>
              <a:off x="278500" y="710037"/>
              <a:ext cx="7861300" cy="751840"/>
            </a:xfrm>
            <a:custGeom>
              <a:avLst/>
              <a:gdLst/>
              <a:ahLst/>
              <a:cxnLst/>
              <a:rect l="l" t="t" r="r" b="b"/>
              <a:pathLst>
                <a:path w="7861300" h="751840">
                  <a:moveTo>
                    <a:pt x="7735947" y="751499"/>
                  </a:moveTo>
                  <a:lnTo>
                    <a:pt x="125252" y="751499"/>
                  </a:lnTo>
                  <a:lnTo>
                    <a:pt x="76498" y="741657"/>
                  </a:lnTo>
                  <a:lnTo>
                    <a:pt x="36685" y="714814"/>
                  </a:lnTo>
                  <a:lnTo>
                    <a:pt x="9842" y="675001"/>
                  </a:lnTo>
                  <a:lnTo>
                    <a:pt x="0" y="626247"/>
                  </a:lnTo>
                  <a:lnTo>
                    <a:pt x="0" y="125252"/>
                  </a:lnTo>
                  <a:lnTo>
                    <a:pt x="9842" y="76498"/>
                  </a:lnTo>
                  <a:lnTo>
                    <a:pt x="36685" y="36685"/>
                  </a:lnTo>
                  <a:lnTo>
                    <a:pt x="76498" y="9842"/>
                  </a:lnTo>
                  <a:lnTo>
                    <a:pt x="125252" y="0"/>
                  </a:lnTo>
                  <a:lnTo>
                    <a:pt x="7735947" y="0"/>
                  </a:lnTo>
                  <a:lnTo>
                    <a:pt x="7783879" y="9534"/>
                  </a:lnTo>
                  <a:lnTo>
                    <a:pt x="7824513" y="36685"/>
                  </a:lnTo>
                  <a:lnTo>
                    <a:pt x="7851665" y="77320"/>
                  </a:lnTo>
                  <a:lnTo>
                    <a:pt x="7861199" y="125252"/>
                  </a:lnTo>
                  <a:lnTo>
                    <a:pt x="7861199" y="626247"/>
                  </a:lnTo>
                  <a:lnTo>
                    <a:pt x="7851356" y="675001"/>
                  </a:lnTo>
                  <a:lnTo>
                    <a:pt x="7824514" y="714814"/>
                  </a:lnTo>
                  <a:lnTo>
                    <a:pt x="7784701" y="741657"/>
                  </a:lnTo>
                  <a:lnTo>
                    <a:pt x="7735947" y="751499"/>
                  </a:lnTo>
                  <a:close/>
                </a:path>
              </a:pathLst>
            </a:custGeom>
            <a:solidFill>
              <a:srgbClr val="3C78D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278500" y="710037"/>
              <a:ext cx="7861300" cy="751840"/>
            </a:xfrm>
            <a:custGeom>
              <a:avLst/>
              <a:gdLst/>
              <a:ahLst/>
              <a:cxnLst/>
              <a:rect l="l" t="t" r="r" b="b"/>
              <a:pathLst>
                <a:path w="7861300" h="751840">
                  <a:moveTo>
                    <a:pt x="0" y="125252"/>
                  </a:moveTo>
                  <a:lnTo>
                    <a:pt x="9842" y="76498"/>
                  </a:lnTo>
                  <a:lnTo>
                    <a:pt x="36685" y="36685"/>
                  </a:lnTo>
                  <a:lnTo>
                    <a:pt x="76498" y="9842"/>
                  </a:lnTo>
                  <a:lnTo>
                    <a:pt x="125252" y="0"/>
                  </a:lnTo>
                  <a:lnTo>
                    <a:pt x="7735947" y="0"/>
                  </a:lnTo>
                  <a:lnTo>
                    <a:pt x="7783879" y="9534"/>
                  </a:lnTo>
                  <a:lnTo>
                    <a:pt x="7824513" y="36685"/>
                  </a:lnTo>
                  <a:lnTo>
                    <a:pt x="7851665" y="77320"/>
                  </a:lnTo>
                  <a:lnTo>
                    <a:pt x="7861199" y="125252"/>
                  </a:lnTo>
                  <a:lnTo>
                    <a:pt x="7861199" y="626247"/>
                  </a:lnTo>
                  <a:lnTo>
                    <a:pt x="7851357" y="675001"/>
                  </a:lnTo>
                  <a:lnTo>
                    <a:pt x="7824514" y="714814"/>
                  </a:lnTo>
                  <a:lnTo>
                    <a:pt x="7784701" y="741657"/>
                  </a:lnTo>
                  <a:lnTo>
                    <a:pt x="7735947" y="751499"/>
                  </a:lnTo>
                  <a:lnTo>
                    <a:pt x="125252" y="751499"/>
                  </a:lnTo>
                  <a:lnTo>
                    <a:pt x="76498" y="741657"/>
                  </a:lnTo>
                  <a:lnTo>
                    <a:pt x="36685" y="714814"/>
                  </a:lnTo>
                  <a:lnTo>
                    <a:pt x="9842" y="675001"/>
                  </a:lnTo>
                  <a:lnTo>
                    <a:pt x="0" y="626247"/>
                  </a:lnTo>
                  <a:lnTo>
                    <a:pt x="0" y="125252"/>
                  </a:lnTo>
                  <a:close/>
                </a:path>
              </a:pathLst>
            </a:custGeom>
            <a:ln w="9524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17352" y="652095"/>
            <a:ext cx="9040543" cy="1710853"/>
          </a:xfrm>
          <a:prstGeom prst="rect">
            <a:avLst/>
          </a:prstGeom>
        </p:spPr>
        <p:txBody>
          <a:bodyPr vert="horz" wrap="square" lIns="0" tIns="30480" rIns="0" bIns="0" rtlCol="0" anchor="ctr">
            <a:spAutoFit/>
          </a:bodyPr>
          <a:lstStyle/>
          <a:p>
            <a:pPr marL="747588" marR="6773" indent="-731502">
              <a:lnSpc>
                <a:spcPts val="2200"/>
              </a:lnSpc>
              <a:spcBef>
                <a:spcPts val="240"/>
              </a:spcBef>
            </a:pPr>
            <a:r>
              <a:rPr lang="fr-FR" sz="1800" dirty="0"/>
              <a:t>           L'application propose une visualisation rapide du Nutri-Score, afin d'aider les utilisateurs ayant peu d'informations sur un produit à faire des choix alimentaires plus sains. Elle permet d'obtenir rapidement une évaluation du Nutri-Score d'un produit en fournissant seulement quelques informations. Cette fonctionnalité permet aux utilisateurs de prendre des décisions éclairées pour une alimentation équilibrée.</a:t>
            </a:r>
            <a:endParaRPr sz="1800" dirty="0">
              <a:latin typeface="Roboto"/>
              <a:cs typeface="Roboto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5800" y="4283195"/>
            <a:ext cx="3233200" cy="215766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495800" y="4429250"/>
            <a:ext cx="3246120" cy="702043"/>
            <a:chOff x="1121850" y="3321937"/>
            <a:chExt cx="2434590" cy="260350"/>
          </a:xfrm>
        </p:grpSpPr>
        <p:sp>
          <p:nvSpPr>
            <p:cNvPr id="8" name="object 8"/>
            <p:cNvSpPr/>
            <p:nvPr/>
          </p:nvSpPr>
          <p:spPr>
            <a:xfrm>
              <a:off x="1126612" y="3326700"/>
              <a:ext cx="2425065" cy="250825"/>
            </a:xfrm>
            <a:custGeom>
              <a:avLst/>
              <a:gdLst/>
              <a:ahLst/>
              <a:cxnLst/>
              <a:rect l="l" t="t" r="r" b="b"/>
              <a:pathLst>
                <a:path w="2425065" h="250825">
                  <a:moveTo>
                    <a:pt x="2383099" y="250799"/>
                  </a:moveTo>
                  <a:lnTo>
                    <a:pt x="41800" y="250799"/>
                  </a:lnTo>
                  <a:lnTo>
                    <a:pt x="25530" y="247515"/>
                  </a:lnTo>
                  <a:lnTo>
                    <a:pt x="12243" y="238556"/>
                  </a:lnTo>
                  <a:lnTo>
                    <a:pt x="3284" y="225269"/>
                  </a:lnTo>
                  <a:lnTo>
                    <a:pt x="0" y="208999"/>
                  </a:lnTo>
                  <a:lnTo>
                    <a:pt x="0" y="41800"/>
                  </a:lnTo>
                  <a:lnTo>
                    <a:pt x="3284" y="25530"/>
                  </a:lnTo>
                  <a:lnTo>
                    <a:pt x="12243" y="12243"/>
                  </a:lnTo>
                  <a:lnTo>
                    <a:pt x="25530" y="3284"/>
                  </a:lnTo>
                  <a:lnTo>
                    <a:pt x="41800" y="0"/>
                  </a:lnTo>
                  <a:lnTo>
                    <a:pt x="2383099" y="0"/>
                  </a:lnTo>
                  <a:lnTo>
                    <a:pt x="2417876" y="18609"/>
                  </a:lnTo>
                  <a:lnTo>
                    <a:pt x="2424899" y="41800"/>
                  </a:lnTo>
                  <a:lnTo>
                    <a:pt x="2424899" y="208999"/>
                  </a:lnTo>
                  <a:lnTo>
                    <a:pt x="2421615" y="225269"/>
                  </a:lnTo>
                  <a:lnTo>
                    <a:pt x="2412656" y="238556"/>
                  </a:lnTo>
                  <a:lnTo>
                    <a:pt x="2399369" y="247515"/>
                  </a:lnTo>
                  <a:lnTo>
                    <a:pt x="2383099" y="250799"/>
                  </a:lnTo>
                  <a:close/>
                </a:path>
              </a:pathLst>
            </a:custGeom>
            <a:solidFill>
              <a:srgbClr val="3C78D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1126612" y="3326700"/>
              <a:ext cx="2425065" cy="250825"/>
            </a:xfrm>
            <a:custGeom>
              <a:avLst/>
              <a:gdLst/>
              <a:ahLst/>
              <a:cxnLst/>
              <a:rect l="l" t="t" r="r" b="b"/>
              <a:pathLst>
                <a:path w="2425065" h="250825">
                  <a:moveTo>
                    <a:pt x="0" y="41800"/>
                  </a:moveTo>
                  <a:lnTo>
                    <a:pt x="3284" y="25530"/>
                  </a:lnTo>
                  <a:lnTo>
                    <a:pt x="12243" y="12243"/>
                  </a:lnTo>
                  <a:lnTo>
                    <a:pt x="25530" y="3284"/>
                  </a:lnTo>
                  <a:lnTo>
                    <a:pt x="41800" y="0"/>
                  </a:lnTo>
                  <a:lnTo>
                    <a:pt x="2383099" y="0"/>
                  </a:lnTo>
                  <a:lnTo>
                    <a:pt x="2417876" y="18609"/>
                  </a:lnTo>
                  <a:lnTo>
                    <a:pt x="2424899" y="41800"/>
                  </a:lnTo>
                  <a:lnTo>
                    <a:pt x="2424899" y="208999"/>
                  </a:lnTo>
                  <a:lnTo>
                    <a:pt x="2421615" y="225269"/>
                  </a:lnTo>
                  <a:lnTo>
                    <a:pt x="2412656" y="238556"/>
                  </a:lnTo>
                  <a:lnTo>
                    <a:pt x="2399369" y="247515"/>
                  </a:lnTo>
                  <a:lnTo>
                    <a:pt x="2383099" y="250799"/>
                  </a:lnTo>
                  <a:lnTo>
                    <a:pt x="41800" y="250799"/>
                  </a:lnTo>
                  <a:lnTo>
                    <a:pt x="25530" y="247515"/>
                  </a:lnTo>
                  <a:lnTo>
                    <a:pt x="12243" y="238556"/>
                  </a:lnTo>
                  <a:lnTo>
                    <a:pt x="3284" y="225269"/>
                  </a:lnTo>
                  <a:lnTo>
                    <a:pt x="0" y="208999"/>
                  </a:lnTo>
                  <a:lnTo>
                    <a:pt x="0" y="41800"/>
                  </a:lnTo>
                  <a:close/>
                </a:path>
              </a:pathLst>
            </a:custGeom>
            <a:ln w="9524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727529" y="4436685"/>
            <a:ext cx="2781300" cy="5917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7" dirty="0">
                <a:solidFill>
                  <a:srgbClr val="FFFFFF"/>
                </a:solidFill>
                <a:latin typeface="Roboto"/>
                <a:cs typeface="Roboto"/>
              </a:rPr>
              <a:t>Le</a:t>
            </a:r>
            <a:r>
              <a:rPr sz="1867" b="1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67" b="1" dirty="0">
                <a:solidFill>
                  <a:srgbClr val="FFFFFF"/>
                </a:solidFill>
                <a:latin typeface="Roboto"/>
                <a:cs typeface="Roboto"/>
              </a:rPr>
              <a:t>score</a:t>
            </a:r>
            <a:r>
              <a:rPr sz="1867" b="1" spc="-13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67" b="1" dirty="0">
                <a:solidFill>
                  <a:srgbClr val="FFFFFF"/>
                </a:solidFill>
                <a:latin typeface="Roboto"/>
                <a:cs typeface="Roboto"/>
              </a:rPr>
              <a:t>varie</a:t>
            </a:r>
            <a:r>
              <a:rPr sz="1867" b="1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67" b="1" spc="7" dirty="0">
                <a:solidFill>
                  <a:srgbClr val="FFFFFF"/>
                </a:solidFill>
                <a:latin typeface="Roboto"/>
                <a:cs typeface="Roboto"/>
              </a:rPr>
              <a:t>de</a:t>
            </a:r>
            <a:r>
              <a:rPr sz="1867" b="1" spc="-13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67" b="1" spc="-40" dirty="0">
                <a:solidFill>
                  <a:srgbClr val="FFFFFF"/>
                </a:solidFill>
                <a:latin typeface="Roboto"/>
                <a:cs typeface="Roboto"/>
              </a:rPr>
              <a:t>-15</a:t>
            </a:r>
            <a:r>
              <a:rPr sz="1867" b="1" spc="-13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67" b="1" spc="-7" dirty="0">
                <a:solidFill>
                  <a:srgbClr val="FFFFFF"/>
                </a:solidFill>
                <a:latin typeface="Roboto"/>
                <a:cs typeface="Roboto"/>
              </a:rPr>
              <a:t>à</a:t>
            </a:r>
            <a:r>
              <a:rPr sz="1867" b="1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67" b="1" spc="-7" dirty="0">
                <a:solidFill>
                  <a:srgbClr val="FFFFFF"/>
                </a:solidFill>
                <a:latin typeface="Roboto"/>
                <a:cs typeface="Roboto"/>
              </a:rPr>
              <a:t>40</a:t>
            </a:r>
            <a:endParaRPr sz="1867">
              <a:latin typeface="Roboto"/>
              <a:cs typeface="Roboto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730" y="2536274"/>
            <a:ext cx="3343395" cy="1552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506" y="763467"/>
            <a:ext cx="6064750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07" dirty="0"/>
              <a:t>Data</a:t>
            </a:r>
            <a:r>
              <a:rPr spc="-213" dirty="0"/>
              <a:t> </a:t>
            </a:r>
            <a:r>
              <a:rPr spc="167" dirty="0"/>
              <a:t>Analysis</a:t>
            </a:r>
            <a:r>
              <a:rPr spc="-213" dirty="0"/>
              <a:t> </a:t>
            </a:r>
            <a:r>
              <a:rPr spc="320" dirty="0"/>
              <a:t>Workﬂow</a:t>
            </a:r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55698" y="129446"/>
            <a:ext cx="1968305" cy="5007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968" y="189783"/>
            <a:ext cx="2792233" cy="3343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098025" y="1274567"/>
            <a:ext cx="3308773" cy="4987713"/>
            <a:chOff x="3876450" y="922976"/>
            <a:chExt cx="2481580" cy="374078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35692" y="3008580"/>
              <a:ext cx="1576567" cy="93906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6450" y="922976"/>
              <a:ext cx="2338399" cy="68817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11449" y="1648474"/>
              <a:ext cx="2303400" cy="66499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92337" y="2355174"/>
              <a:ext cx="2306624" cy="8448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14925" y="2662599"/>
              <a:ext cx="1542675" cy="71030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48425" y="3491475"/>
              <a:ext cx="1109172" cy="8448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51400" y="3988324"/>
              <a:ext cx="645798" cy="6150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48725" y="4062995"/>
              <a:ext cx="857399" cy="600179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46714" y="3050116"/>
            <a:ext cx="2827867" cy="757767"/>
            <a:chOff x="387937" y="2279350"/>
            <a:chExt cx="2120900" cy="568325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32994" y="2376825"/>
              <a:ext cx="475388" cy="37774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526467" y="2565699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80">
                  <a:moveTo>
                    <a:pt x="0" y="0"/>
                  </a:moveTo>
                  <a:lnTo>
                    <a:pt x="44925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975717" y="25499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1975717" y="25499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7937" y="2279350"/>
              <a:ext cx="1138530" cy="56811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441867" y="3350859"/>
            <a:ext cx="831427" cy="1606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933" b="1" spc="-7" dirty="0">
                <a:latin typeface="Trebuchet MS"/>
                <a:cs typeface="Trebuchet MS"/>
              </a:rPr>
              <a:t>Openfoodfacts</a:t>
            </a:r>
            <a:endParaRPr sz="933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520816" y="3365883"/>
            <a:ext cx="392853" cy="175260"/>
            <a:chOff x="3390612" y="2524412"/>
            <a:chExt cx="294640" cy="131445"/>
          </a:xfrm>
        </p:grpSpPr>
        <p:sp>
          <p:nvSpPr>
            <p:cNvPr id="22" name="object 22"/>
            <p:cNvSpPr/>
            <p:nvPr/>
          </p:nvSpPr>
          <p:spPr>
            <a:xfrm>
              <a:off x="3395374" y="2529175"/>
              <a:ext cx="285115" cy="121920"/>
            </a:xfrm>
            <a:custGeom>
              <a:avLst/>
              <a:gdLst/>
              <a:ahLst/>
              <a:cxnLst/>
              <a:rect l="l" t="t" r="r" b="b"/>
              <a:pathLst>
                <a:path w="285114" h="121919">
                  <a:moveTo>
                    <a:pt x="223949" y="121499"/>
                  </a:moveTo>
                  <a:lnTo>
                    <a:pt x="223949" y="91124"/>
                  </a:lnTo>
                  <a:lnTo>
                    <a:pt x="0" y="91124"/>
                  </a:lnTo>
                  <a:lnTo>
                    <a:pt x="0" y="30374"/>
                  </a:lnTo>
                  <a:lnTo>
                    <a:pt x="223949" y="30374"/>
                  </a:lnTo>
                  <a:lnTo>
                    <a:pt x="223949" y="0"/>
                  </a:lnTo>
                  <a:lnTo>
                    <a:pt x="284699" y="60749"/>
                  </a:lnTo>
                  <a:lnTo>
                    <a:pt x="223949" y="1214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3395374" y="2529175"/>
              <a:ext cx="285115" cy="121920"/>
            </a:xfrm>
            <a:custGeom>
              <a:avLst/>
              <a:gdLst/>
              <a:ahLst/>
              <a:cxnLst/>
              <a:rect l="l" t="t" r="r" b="b"/>
              <a:pathLst>
                <a:path w="285114" h="121919">
                  <a:moveTo>
                    <a:pt x="0" y="30374"/>
                  </a:moveTo>
                  <a:lnTo>
                    <a:pt x="223949" y="30374"/>
                  </a:lnTo>
                  <a:lnTo>
                    <a:pt x="223949" y="0"/>
                  </a:lnTo>
                  <a:lnTo>
                    <a:pt x="284699" y="60749"/>
                  </a:lnTo>
                  <a:lnTo>
                    <a:pt x="223949" y="121499"/>
                  </a:lnTo>
                  <a:lnTo>
                    <a:pt x="223949" y="91124"/>
                  </a:lnTo>
                  <a:lnTo>
                    <a:pt x="0" y="91124"/>
                  </a:lnTo>
                  <a:lnTo>
                    <a:pt x="0" y="3037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8649016" y="3333583"/>
            <a:ext cx="392853" cy="175260"/>
            <a:chOff x="6486762" y="2500187"/>
            <a:chExt cx="294640" cy="131445"/>
          </a:xfrm>
        </p:grpSpPr>
        <p:sp>
          <p:nvSpPr>
            <p:cNvPr id="25" name="object 25"/>
            <p:cNvSpPr/>
            <p:nvPr/>
          </p:nvSpPr>
          <p:spPr>
            <a:xfrm>
              <a:off x="6491525" y="2504950"/>
              <a:ext cx="285115" cy="121920"/>
            </a:xfrm>
            <a:custGeom>
              <a:avLst/>
              <a:gdLst/>
              <a:ahLst/>
              <a:cxnLst/>
              <a:rect l="l" t="t" r="r" b="b"/>
              <a:pathLst>
                <a:path w="285115" h="121919">
                  <a:moveTo>
                    <a:pt x="223949" y="121499"/>
                  </a:moveTo>
                  <a:lnTo>
                    <a:pt x="223949" y="91124"/>
                  </a:lnTo>
                  <a:lnTo>
                    <a:pt x="0" y="91124"/>
                  </a:lnTo>
                  <a:lnTo>
                    <a:pt x="0" y="30374"/>
                  </a:lnTo>
                  <a:lnTo>
                    <a:pt x="223949" y="30374"/>
                  </a:lnTo>
                  <a:lnTo>
                    <a:pt x="223949" y="0"/>
                  </a:lnTo>
                  <a:lnTo>
                    <a:pt x="284699" y="60749"/>
                  </a:lnTo>
                  <a:lnTo>
                    <a:pt x="223949" y="1214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6491525" y="2504950"/>
              <a:ext cx="285115" cy="121920"/>
            </a:xfrm>
            <a:custGeom>
              <a:avLst/>
              <a:gdLst/>
              <a:ahLst/>
              <a:cxnLst/>
              <a:rect l="l" t="t" r="r" b="b"/>
              <a:pathLst>
                <a:path w="285115" h="121919">
                  <a:moveTo>
                    <a:pt x="0" y="30374"/>
                  </a:moveTo>
                  <a:lnTo>
                    <a:pt x="223949" y="30374"/>
                  </a:lnTo>
                  <a:lnTo>
                    <a:pt x="223949" y="0"/>
                  </a:lnTo>
                  <a:lnTo>
                    <a:pt x="284699" y="60749"/>
                  </a:lnTo>
                  <a:lnTo>
                    <a:pt x="223949" y="121499"/>
                  </a:lnTo>
                  <a:lnTo>
                    <a:pt x="223949" y="91124"/>
                  </a:lnTo>
                  <a:lnTo>
                    <a:pt x="0" y="91124"/>
                  </a:lnTo>
                  <a:lnTo>
                    <a:pt x="0" y="3037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9532657" y="2408198"/>
            <a:ext cx="1611207" cy="1360592"/>
            <a:chOff x="7442743" y="1876955"/>
            <a:chExt cx="1208405" cy="1020444"/>
          </a:xfrm>
        </p:grpSpPr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31400" y="1876955"/>
              <a:ext cx="1019540" cy="5726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42743" y="2396457"/>
              <a:ext cx="572780" cy="500668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9587740" y="3952073"/>
            <a:ext cx="12327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13" dirty="0">
                <a:latin typeface="Trebuchet MS"/>
                <a:cs typeface="Trebuchet MS"/>
              </a:rPr>
              <a:t>Data</a:t>
            </a:r>
            <a:r>
              <a:rPr sz="1600" b="1" spc="-73" dirty="0">
                <a:latin typeface="Trebuchet MS"/>
                <a:cs typeface="Trebuchet MS"/>
              </a:rPr>
              <a:t> </a:t>
            </a:r>
            <a:r>
              <a:rPr sz="1600" b="1" spc="7" dirty="0">
                <a:latin typeface="Trebuchet MS"/>
                <a:cs typeface="Trebuchet MS"/>
              </a:rPr>
              <a:t>Sharing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20143" y="6459870"/>
            <a:ext cx="1214967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b="1" spc="7" dirty="0">
                <a:latin typeface="Trebuchet MS"/>
                <a:cs typeface="Trebuchet MS"/>
              </a:rPr>
              <a:t>Data</a:t>
            </a:r>
            <a:r>
              <a:rPr sz="800" b="1" spc="-60" dirty="0">
                <a:latin typeface="Trebuchet MS"/>
                <a:cs typeface="Trebuchet MS"/>
              </a:rPr>
              <a:t> </a:t>
            </a:r>
            <a:r>
              <a:rPr sz="800" b="1" dirty="0">
                <a:latin typeface="Trebuchet MS"/>
                <a:cs typeface="Trebuchet MS"/>
              </a:rPr>
              <a:t>Cleaning</a:t>
            </a:r>
            <a:r>
              <a:rPr sz="800" b="1" spc="-53" dirty="0">
                <a:latin typeface="Trebuchet MS"/>
                <a:cs typeface="Trebuchet MS"/>
              </a:rPr>
              <a:t> &amp;</a:t>
            </a:r>
            <a:r>
              <a:rPr sz="800" b="1" spc="140" dirty="0">
                <a:latin typeface="Trebuchet MS"/>
                <a:cs typeface="Trebuchet MS"/>
              </a:rPr>
              <a:t> </a:t>
            </a:r>
            <a:r>
              <a:rPr sz="800" b="1" dirty="0">
                <a:latin typeface="Trebuchet MS"/>
                <a:cs typeface="Trebuchet MS"/>
              </a:rPr>
              <a:t>Analysis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7275" y="530532"/>
            <a:ext cx="9714653" cy="96107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27" dirty="0"/>
              <a:t>Informations</a:t>
            </a:r>
            <a:r>
              <a:rPr spc="-160" dirty="0"/>
              <a:t> </a:t>
            </a:r>
            <a:r>
              <a:rPr spc="100" dirty="0"/>
              <a:t>contenues</a:t>
            </a:r>
            <a:r>
              <a:rPr spc="-160" dirty="0"/>
              <a:t> </a:t>
            </a:r>
            <a:r>
              <a:rPr spc="80" dirty="0"/>
              <a:t>dans</a:t>
            </a:r>
            <a:r>
              <a:rPr spc="-152" dirty="0"/>
              <a:t> </a:t>
            </a:r>
            <a:r>
              <a:rPr spc="113" dirty="0"/>
              <a:t>le</a:t>
            </a:r>
            <a:r>
              <a:rPr spc="-160" dirty="0"/>
              <a:t> </a:t>
            </a:r>
            <a:r>
              <a:rPr spc="20" dirty="0"/>
              <a:t>jeu</a:t>
            </a:r>
            <a:r>
              <a:rPr spc="-152" dirty="0"/>
              <a:t> </a:t>
            </a:r>
            <a:r>
              <a:rPr spc="47" dirty="0"/>
              <a:t>de</a:t>
            </a:r>
            <a:r>
              <a:rPr spc="-160" dirty="0"/>
              <a:t> </a:t>
            </a:r>
            <a:r>
              <a:rPr spc="73" dirty="0"/>
              <a:t>données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33564" y="114312"/>
            <a:ext cx="1968305" cy="5007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968" y="189783"/>
            <a:ext cx="2792233" cy="334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2551" y="1675105"/>
            <a:ext cx="10705165" cy="236949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94452" y="3888697"/>
            <a:ext cx="11393593" cy="2613660"/>
            <a:chOff x="270475" y="3044747"/>
            <a:chExt cx="8545195" cy="196024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0475" y="3044747"/>
              <a:ext cx="3984574" cy="69055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21326" y="3377349"/>
              <a:ext cx="384649" cy="3056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24287" y="3518587"/>
              <a:ext cx="4581599" cy="14762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219525" y="3513825"/>
              <a:ext cx="4591685" cy="1485900"/>
            </a:xfrm>
            <a:custGeom>
              <a:avLst/>
              <a:gdLst/>
              <a:ahLst/>
              <a:cxnLst/>
              <a:rect l="l" t="t" r="r" b="b"/>
              <a:pathLst>
                <a:path w="4591684" h="1485900">
                  <a:moveTo>
                    <a:pt x="0" y="247642"/>
                  </a:moveTo>
                  <a:lnTo>
                    <a:pt x="5009" y="197733"/>
                  </a:lnTo>
                  <a:lnTo>
                    <a:pt x="19376" y="151248"/>
                  </a:lnTo>
                  <a:lnTo>
                    <a:pt x="42109" y="109183"/>
                  </a:lnTo>
                  <a:lnTo>
                    <a:pt x="72217" y="72532"/>
                  </a:lnTo>
                  <a:lnTo>
                    <a:pt x="108708" y="42293"/>
                  </a:lnTo>
                  <a:lnTo>
                    <a:pt x="150591" y="19460"/>
                  </a:lnTo>
                  <a:lnTo>
                    <a:pt x="196874" y="5031"/>
                  </a:lnTo>
                  <a:lnTo>
                    <a:pt x="246566" y="0"/>
                  </a:lnTo>
                  <a:lnTo>
                    <a:pt x="4344558" y="0"/>
                  </a:lnTo>
                  <a:lnTo>
                    <a:pt x="4392886" y="4802"/>
                  </a:lnTo>
                  <a:lnTo>
                    <a:pt x="4438915" y="18850"/>
                  </a:lnTo>
                  <a:lnTo>
                    <a:pt x="4481353" y="41606"/>
                  </a:lnTo>
                  <a:lnTo>
                    <a:pt x="4518906" y="72532"/>
                  </a:lnTo>
                  <a:lnTo>
                    <a:pt x="4549698" y="110250"/>
                  </a:lnTo>
                  <a:lnTo>
                    <a:pt x="4572356" y="152873"/>
                  </a:lnTo>
                  <a:lnTo>
                    <a:pt x="4586343" y="199104"/>
                  </a:lnTo>
                  <a:lnTo>
                    <a:pt x="4591124" y="247642"/>
                  </a:lnTo>
                  <a:lnTo>
                    <a:pt x="4591124" y="1238182"/>
                  </a:lnTo>
                  <a:lnTo>
                    <a:pt x="4586115" y="1288091"/>
                  </a:lnTo>
                  <a:lnTo>
                    <a:pt x="4571748" y="1334576"/>
                  </a:lnTo>
                  <a:lnTo>
                    <a:pt x="4549015" y="1376641"/>
                  </a:lnTo>
                  <a:lnTo>
                    <a:pt x="4518907" y="1413292"/>
                  </a:lnTo>
                  <a:lnTo>
                    <a:pt x="4482416" y="1443531"/>
                  </a:lnTo>
                  <a:lnTo>
                    <a:pt x="4440533" y="1466363"/>
                  </a:lnTo>
                  <a:lnTo>
                    <a:pt x="4394250" y="1480793"/>
                  </a:lnTo>
                  <a:lnTo>
                    <a:pt x="4344558" y="1485824"/>
                  </a:lnTo>
                  <a:lnTo>
                    <a:pt x="246566" y="1485824"/>
                  </a:lnTo>
                  <a:lnTo>
                    <a:pt x="196874" y="1480793"/>
                  </a:lnTo>
                  <a:lnTo>
                    <a:pt x="150591" y="1466363"/>
                  </a:lnTo>
                  <a:lnTo>
                    <a:pt x="108708" y="1443531"/>
                  </a:lnTo>
                  <a:lnTo>
                    <a:pt x="72217" y="1413292"/>
                  </a:lnTo>
                  <a:lnTo>
                    <a:pt x="42109" y="1376641"/>
                  </a:lnTo>
                  <a:lnTo>
                    <a:pt x="19376" y="1334576"/>
                  </a:lnTo>
                  <a:lnTo>
                    <a:pt x="5009" y="1288091"/>
                  </a:lnTo>
                  <a:lnTo>
                    <a:pt x="0" y="1238182"/>
                  </a:lnTo>
                  <a:lnTo>
                    <a:pt x="0" y="247642"/>
                  </a:lnTo>
                  <a:close/>
                </a:path>
              </a:pathLst>
            </a:custGeom>
            <a:ln w="9524">
              <a:solidFill>
                <a:srgbClr val="1155C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7100" y="496856"/>
            <a:ext cx="4834467" cy="112509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40" dirty="0"/>
              <a:t>Nettoyage</a:t>
            </a:r>
            <a:r>
              <a:rPr spc="-193" dirty="0"/>
              <a:t> </a:t>
            </a:r>
            <a:r>
              <a:rPr spc="27" dirty="0"/>
              <a:t>des</a:t>
            </a:r>
            <a:r>
              <a:rPr spc="-187" dirty="0"/>
              <a:t> </a:t>
            </a:r>
            <a:r>
              <a:rPr spc="73" dirty="0"/>
              <a:t>données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33564" y="114312"/>
            <a:ext cx="1968305" cy="5007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968" y="189783"/>
            <a:ext cx="2792233" cy="334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08135" y="1599706"/>
            <a:ext cx="389665" cy="6586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51830" y="2571769"/>
            <a:ext cx="4091940" cy="108380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086" marR="6773" algn="ctr">
              <a:spcBef>
                <a:spcPts val="133"/>
              </a:spcBef>
            </a:pPr>
            <a:r>
              <a:rPr sz="1733" b="1" spc="-27" dirty="0">
                <a:latin typeface="Trebuchet MS"/>
                <a:cs typeface="Trebuchet MS"/>
              </a:rPr>
              <a:t>Etude</a:t>
            </a:r>
            <a:r>
              <a:rPr sz="1733" b="1" spc="-87" dirty="0">
                <a:latin typeface="Trebuchet MS"/>
                <a:cs typeface="Trebuchet MS"/>
              </a:rPr>
              <a:t> </a:t>
            </a:r>
            <a:r>
              <a:rPr sz="1733" b="1" spc="13" dirty="0">
                <a:latin typeface="Trebuchet MS"/>
                <a:cs typeface="Trebuchet MS"/>
              </a:rPr>
              <a:t>des</a:t>
            </a:r>
            <a:r>
              <a:rPr sz="1733" b="1" spc="-87" dirty="0">
                <a:latin typeface="Trebuchet MS"/>
                <a:cs typeface="Trebuchet MS"/>
              </a:rPr>
              <a:t> </a:t>
            </a:r>
            <a:r>
              <a:rPr sz="1733" b="1" spc="-27" dirty="0">
                <a:latin typeface="Trebuchet MS"/>
                <a:cs typeface="Trebuchet MS"/>
              </a:rPr>
              <a:t>individus</a:t>
            </a:r>
            <a:r>
              <a:rPr sz="1733" b="1" spc="-87" dirty="0">
                <a:latin typeface="Trebuchet MS"/>
                <a:cs typeface="Trebuchet MS"/>
              </a:rPr>
              <a:t> </a:t>
            </a:r>
            <a:r>
              <a:rPr sz="1733" b="1" spc="-27" dirty="0">
                <a:latin typeface="Trebuchet MS"/>
                <a:cs typeface="Trebuchet MS"/>
              </a:rPr>
              <a:t>ayant</a:t>
            </a:r>
            <a:r>
              <a:rPr sz="1733" b="1" spc="-87" dirty="0">
                <a:latin typeface="Trebuchet MS"/>
                <a:cs typeface="Trebuchet MS"/>
              </a:rPr>
              <a:t> </a:t>
            </a:r>
            <a:r>
              <a:rPr sz="1733" b="1" spc="-20" dirty="0">
                <a:latin typeface="Trebuchet MS"/>
                <a:cs typeface="Trebuchet MS"/>
              </a:rPr>
              <a:t>un</a:t>
            </a:r>
            <a:r>
              <a:rPr sz="1733" b="1" spc="-87" dirty="0">
                <a:latin typeface="Trebuchet MS"/>
                <a:cs typeface="Trebuchet MS"/>
              </a:rPr>
              <a:t> </a:t>
            </a:r>
            <a:r>
              <a:rPr sz="1733" b="1" spc="-33" dirty="0">
                <a:latin typeface="Trebuchet MS"/>
                <a:cs typeface="Trebuchet MS"/>
              </a:rPr>
              <a:t>Nutri-Score </a:t>
            </a:r>
            <a:r>
              <a:rPr sz="1733" b="1" spc="-500" dirty="0">
                <a:latin typeface="Trebuchet MS"/>
                <a:cs typeface="Trebuchet MS"/>
              </a:rPr>
              <a:t> </a:t>
            </a:r>
            <a:r>
              <a:rPr sz="1733" b="1" spc="-20" dirty="0">
                <a:latin typeface="Trebuchet MS"/>
                <a:cs typeface="Trebuchet MS"/>
              </a:rPr>
              <a:t>renseigné</a:t>
            </a:r>
            <a:r>
              <a:rPr sz="1733" b="1" spc="-80" dirty="0">
                <a:latin typeface="Trebuchet MS"/>
                <a:cs typeface="Trebuchet MS"/>
              </a:rPr>
              <a:t> </a:t>
            </a:r>
            <a:r>
              <a:rPr sz="1733" b="1" spc="-73" dirty="0">
                <a:latin typeface="Trebuchet MS"/>
                <a:cs typeface="Trebuchet MS"/>
              </a:rPr>
              <a:t>et</a:t>
            </a:r>
            <a:r>
              <a:rPr sz="1733" b="1" spc="-80" dirty="0">
                <a:latin typeface="Trebuchet MS"/>
                <a:cs typeface="Trebuchet MS"/>
              </a:rPr>
              <a:t> </a:t>
            </a:r>
            <a:r>
              <a:rPr sz="1733" b="1" spc="-20" dirty="0">
                <a:latin typeface="Trebuchet MS"/>
                <a:cs typeface="Trebuchet MS"/>
              </a:rPr>
              <a:t>un</a:t>
            </a:r>
            <a:r>
              <a:rPr sz="1733" b="1" spc="-80" dirty="0">
                <a:latin typeface="Trebuchet MS"/>
                <a:cs typeface="Trebuchet MS"/>
              </a:rPr>
              <a:t> </a:t>
            </a:r>
            <a:r>
              <a:rPr sz="1733" b="1" dirty="0">
                <a:latin typeface="Trebuchet MS"/>
                <a:cs typeface="Trebuchet MS"/>
              </a:rPr>
              <a:t>bon</a:t>
            </a:r>
            <a:r>
              <a:rPr sz="1733" b="1" spc="-73" dirty="0">
                <a:latin typeface="Trebuchet MS"/>
                <a:cs typeface="Trebuchet MS"/>
              </a:rPr>
              <a:t> </a:t>
            </a:r>
            <a:r>
              <a:rPr sz="1733" b="1" spc="-53" dirty="0">
                <a:latin typeface="Trebuchet MS"/>
                <a:cs typeface="Trebuchet MS"/>
              </a:rPr>
              <a:t>taux</a:t>
            </a:r>
            <a:r>
              <a:rPr sz="1733" b="1" spc="-80" dirty="0">
                <a:latin typeface="Trebuchet MS"/>
                <a:cs typeface="Trebuchet MS"/>
              </a:rPr>
              <a:t> </a:t>
            </a:r>
            <a:r>
              <a:rPr sz="1733" b="1" spc="-20" dirty="0">
                <a:latin typeface="Trebuchet MS"/>
                <a:cs typeface="Trebuchet MS"/>
              </a:rPr>
              <a:t>de</a:t>
            </a:r>
            <a:r>
              <a:rPr sz="1733" b="1" spc="-80" dirty="0">
                <a:latin typeface="Trebuchet MS"/>
                <a:cs typeface="Trebuchet MS"/>
              </a:rPr>
              <a:t> </a:t>
            </a:r>
            <a:r>
              <a:rPr sz="1733" b="1" spc="-7" dirty="0">
                <a:latin typeface="Trebuchet MS"/>
                <a:cs typeface="Trebuchet MS"/>
              </a:rPr>
              <a:t>remplissage </a:t>
            </a:r>
            <a:r>
              <a:rPr sz="1733" b="1" spc="-500" dirty="0">
                <a:latin typeface="Trebuchet MS"/>
                <a:cs typeface="Trebuchet MS"/>
              </a:rPr>
              <a:t> </a:t>
            </a:r>
            <a:r>
              <a:rPr sz="1733" b="1" spc="-20" dirty="0">
                <a:latin typeface="Trebuchet MS"/>
                <a:cs typeface="Trebuchet MS"/>
              </a:rPr>
              <a:t>général</a:t>
            </a:r>
            <a:r>
              <a:rPr sz="1733" b="1" spc="-80" dirty="0">
                <a:latin typeface="Trebuchet MS"/>
                <a:cs typeface="Trebuchet MS"/>
              </a:rPr>
              <a:t> (ici </a:t>
            </a:r>
            <a:r>
              <a:rPr sz="1733" b="1" spc="-60" dirty="0">
                <a:latin typeface="Trebuchet MS"/>
                <a:cs typeface="Trebuchet MS"/>
              </a:rPr>
              <a:t>arbitrairement</a:t>
            </a:r>
            <a:r>
              <a:rPr sz="1733" b="1" spc="-80" dirty="0">
                <a:latin typeface="Trebuchet MS"/>
                <a:cs typeface="Trebuchet MS"/>
              </a:rPr>
              <a:t> </a:t>
            </a:r>
            <a:r>
              <a:rPr sz="1733" b="1" spc="-7" dirty="0">
                <a:latin typeface="Trebuchet MS"/>
                <a:cs typeface="Trebuchet MS"/>
              </a:rPr>
              <a:t>moins</a:t>
            </a:r>
            <a:r>
              <a:rPr sz="1733" b="1" spc="-80" dirty="0">
                <a:latin typeface="Trebuchet MS"/>
                <a:cs typeface="Trebuchet MS"/>
              </a:rPr>
              <a:t> </a:t>
            </a:r>
            <a:r>
              <a:rPr sz="1733" b="1" spc="-20" dirty="0">
                <a:latin typeface="Trebuchet MS"/>
                <a:cs typeface="Trebuchet MS"/>
              </a:rPr>
              <a:t>de</a:t>
            </a:r>
            <a:r>
              <a:rPr sz="1733" b="1" spc="-80" dirty="0">
                <a:latin typeface="Trebuchet MS"/>
                <a:cs typeface="Trebuchet MS"/>
              </a:rPr>
              <a:t> </a:t>
            </a:r>
            <a:r>
              <a:rPr sz="1733" b="1" spc="53" dirty="0">
                <a:latin typeface="Trebuchet MS"/>
                <a:cs typeface="Trebuchet MS"/>
              </a:rPr>
              <a:t>80%  </a:t>
            </a:r>
            <a:r>
              <a:rPr sz="1733" b="1" spc="-20" dirty="0">
                <a:latin typeface="Trebuchet MS"/>
                <a:cs typeface="Trebuchet MS"/>
              </a:rPr>
              <a:t>de</a:t>
            </a:r>
            <a:r>
              <a:rPr sz="1733" b="1" spc="-87" dirty="0">
                <a:latin typeface="Trebuchet MS"/>
                <a:cs typeface="Trebuchet MS"/>
              </a:rPr>
              <a:t> </a:t>
            </a:r>
            <a:r>
              <a:rPr sz="1733" b="1" spc="27" dirty="0">
                <a:latin typeface="Trebuchet MS"/>
                <a:cs typeface="Trebuchet MS"/>
              </a:rPr>
              <a:t>NaN)</a:t>
            </a:r>
            <a:endParaRPr sz="1733" dirty="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99268" y="2298813"/>
            <a:ext cx="2919532" cy="217091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499268" y="1343514"/>
            <a:ext cx="3277447" cy="3041227"/>
            <a:chOff x="3986275" y="969537"/>
            <a:chExt cx="2458085" cy="228092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86275" y="974287"/>
              <a:ext cx="2327824" cy="5623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314100" y="974300"/>
              <a:ext cx="125095" cy="2271395"/>
            </a:xfrm>
            <a:custGeom>
              <a:avLst/>
              <a:gdLst/>
              <a:ahLst/>
              <a:cxnLst/>
              <a:rect l="l" t="t" r="r" b="b"/>
              <a:pathLst>
                <a:path w="125095" h="2271395">
                  <a:moveTo>
                    <a:pt x="0" y="0"/>
                  </a:moveTo>
                  <a:lnTo>
                    <a:pt x="12259" y="1212"/>
                  </a:lnTo>
                  <a:lnTo>
                    <a:pt x="23936" y="4761"/>
                  </a:lnTo>
                  <a:lnTo>
                    <a:pt x="57788" y="38613"/>
                  </a:lnTo>
                  <a:lnTo>
                    <a:pt x="62549" y="62549"/>
                  </a:lnTo>
                  <a:lnTo>
                    <a:pt x="62549" y="1072949"/>
                  </a:lnTo>
                  <a:lnTo>
                    <a:pt x="67465" y="1097297"/>
                  </a:lnTo>
                  <a:lnTo>
                    <a:pt x="80870" y="1117179"/>
                  </a:lnTo>
                  <a:lnTo>
                    <a:pt x="100752" y="1130584"/>
                  </a:lnTo>
                  <a:lnTo>
                    <a:pt x="125099" y="1135499"/>
                  </a:lnTo>
                  <a:lnTo>
                    <a:pt x="100752" y="1140415"/>
                  </a:lnTo>
                  <a:lnTo>
                    <a:pt x="80870" y="1153820"/>
                  </a:lnTo>
                  <a:lnTo>
                    <a:pt x="67465" y="1173702"/>
                  </a:lnTo>
                  <a:lnTo>
                    <a:pt x="62549" y="1198049"/>
                  </a:lnTo>
                  <a:lnTo>
                    <a:pt x="62549" y="2208449"/>
                  </a:lnTo>
                  <a:lnTo>
                    <a:pt x="57634" y="2232797"/>
                  </a:lnTo>
                  <a:lnTo>
                    <a:pt x="44229" y="2252679"/>
                  </a:lnTo>
                  <a:lnTo>
                    <a:pt x="24347" y="2266084"/>
                  </a:lnTo>
                  <a:lnTo>
                    <a:pt x="0" y="22709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815762" y="2441860"/>
            <a:ext cx="2481580" cy="6324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ctr">
              <a:spcBef>
                <a:spcPts val="133"/>
              </a:spcBef>
            </a:pPr>
            <a:r>
              <a:rPr sz="1333" spc="60" dirty="0">
                <a:latin typeface="Trebuchet MS"/>
                <a:cs typeface="Trebuchet MS"/>
              </a:rPr>
              <a:t>On</a:t>
            </a:r>
            <a:r>
              <a:rPr sz="1333" spc="-60" dirty="0">
                <a:latin typeface="Trebuchet MS"/>
                <a:cs typeface="Trebuchet MS"/>
              </a:rPr>
              <a:t> </a:t>
            </a:r>
            <a:r>
              <a:rPr sz="1333" spc="-40" dirty="0">
                <a:latin typeface="Trebuchet MS"/>
                <a:cs typeface="Trebuchet MS"/>
              </a:rPr>
              <a:t>obtient</a:t>
            </a:r>
            <a:r>
              <a:rPr sz="1333" spc="-60" dirty="0">
                <a:latin typeface="Trebuchet MS"/>
                <a:cs typeface="Trebuchet MS"/>
              </a:rPr>
              <a:t> </a:t>
            </a:r>
            <a:r>
              <a:rPr sz="1333" spc="7" dirty="0">
                <a:latin typeface="Trebuchet MS"/>
                <a:cs typeface="Trebuchet MS"/>
              </a:rPr>
              <a:t>une</a:t>
            </a:r>
            <a:r>
              <a:rPr sz="1333" spc="-60" dirty="0">
                <a:latin typeface="Trebuchet MS"/>
                <a:cs typeface="Trebuchet MS"/>
              </a:rPr>
              <a:t> </a:t>
            </a:r>
            <a:r>
              <a:rPr sz="1333" spc="27" dirty="0">
                <a:latin typeface="Trebuchet MS"/>
                <a:cs typeface="Trebuchet MS"/>
              </a:rPr>
              <a:t>base</a:t>
            </a:r>
            <a:r>
              <a:rPr sz="1333" spc="-60" dirty="0">
                <a:latin typeface="Trebuchet MS"/>
                <a:cs typeface="Trebuchet MS"/>
              </a:rPr>
              <a:t> </a:t>
            </a:r>
            <a:r>
              <a:rPr sz="1333" spc="20" dirty="0">
                <a:latin typeface="Trebuchet MS"/>
                <a:cs typeface="Trebuchet MS"/>
              </a:rPr>
              <a:t>de</a:t>
            </a:r>
            <a:r>
              <a:rPr sz="1333" spc="-60" dirty="0">
                <a:latin typeface="Trebuchet MS"/>
                <a:cs typeface="Trebuchet MS"/>
              </a:rPr>
              <a:t> </a:t>
            </a:r>
            <a:r>
              <a:rPr sz="1333" spc="27" dirty="0">
                <a:latin typeface="Trebuchet MS"/>
                <a:cs typeface="Trebuchet MS"/>
              </a:rPr>
              <a:t>données  </a:t>
            </a:r>
            <a:r>
              <a:rPr sz="1333" dirty="0">
                <a:latin typeface="Trebuchet MS"/>
                <a:cs typeface="Trebuchet MS"/>
              </a:rPr>
              <a:t>avec un </a:t>
            </a:r>
            <a:r>
              <a:rPr sz="1333" spc="-13" dirty="0">
                <a:latin typeface="Trebuchet MS"/>
                <a:cs typeface="Trebuchet MS"/>
              </a:rPr>
              <a:t>niveau </a:t>
            </a:r>
            <a:r>
              <a:rPr sz="1333" spc="20" dirty="0">
                <a:latin typeface="Trebuchet MS"/>
                <a:cs typeface="Trebuchet MS"/>
              </a:rPr>
              <a:t>de </a:t>
            </a:r>
            <a:r>
              <a:rPr sz="1333" dirty="0">
                <a:latin typeface="Trebuchet MS"/>
                <a:cs typeface="Trebuchet MS"/>
              </a:rPr>
              <a:t>remplissage </a:t>
            </a:r>
            <a:r>
              <a:rPr sz="1333" spc="7" dirty="0">
                <a:latin typeface="Trebuchet MS"/>
                <a:cs typeface="Trebuchet MS"/>
              </a:rPr>
              <a:t> </a:t>
            </a:r>
            <a:r>
              <a:rPr sz="1333" spc="-33" dirty="0">
                <a:latin typeface="Trebuchet MS"/>
                <a:cs typeface="Trebuchet MS"/>
              </a:rPr>
              <a:t>très</a:t>
            </a:r>
            <a:r>
              <a:rPr sz="1333" spc="-67" dirty="0">
                <a:latin typeface="Trebuchet MS"/>
                <a:cs typeface="Trebuchet MS"/>
              </a:rPr>
              <a:t> </a:t>
            </a:r>
            <a:r>
              <a:rPr sz="1333" spc="-27" dirty="0">
                <a:latin typeface="Trebuchet MS"/>
                <a:cs typeface="Trebuchet MS"/>
              </a:rPr>
              <a:t>satisfaisant</a:t>
            </a:r>
            <a:endParaRPr sz="1333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7987" y="4638398"/>
            <a:ext cx="9010227" cy="83757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i="1" spc="-27" dirty="0">
                <a:latin typeface="Trebuchet MS"/>
                <a:cs typeface="Trebuchet MS"/>
              </a:rPr>
              <a:t>Séparation</a:t>
            </a:r>
            <a:r>
              <a:rPr sz="1333" b="1" i="1" spc="-67" dirty="0">
                <a:latin typeface="Trebuchet MS"/>
                <a:cs typeface="Trebuchet MS"/>
              </a:rPr>
              <a:t> </a:t>
            </a:r>
            <a:r>
              <a:rPr sz="1333" b="1" i="1" spc="-7" dirty="0">
                <a:latin typeface="Trebuchet MS"/>
                <a:cs typeface="Trebuchet MS"/>
              </a:rPr>
              <a:t>de</a:t>
            </a:r>
            <a:r>
              <a:rPr sz="1333" b="1" i="1" spc="-67" dirty="0">
                <a:latin typeface="Trebuchet MS"/>
                <a:cs typeface="Trebuchet MS"/>
              </a:rPr>
              <a:t> </a:t>
            </a:r>
            <a:r>
              <a:rPr sz="1333" b="1" i="1" spc="-47" dirty="0">
                <a:latin typeface="Trebuchet MS"/>
                <a:cs typeface="Trebuchet MS"/>
              </a:rPr>
              <a:t>notre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-53" dirty="0">
                <a:latin typeface="Trebuchet MS"/>
                <a:cs typeface="Trebuchet MS"/>
              </a:rPr>
              <a:t>jeu</a:t>
            </a:r>
            <a:r>
              <a:rPr sz="1333" b="1" i="1" spc="-67" dirty="0">
                <a:latin typeface="Trebuchet MS"/>
                <a:cs typeface="Trebuchet MS"/>
              </a:rPr>
              <a:t> </a:t>
            </a:r>
            <a:r>
              <a:rPr sz="1333" b="1" i="1" spc="-7" dirty="0">
                <a:latin typeface="Trebuchet MS"/>
                <a:cs typeface="Trebuchet MS"/>
              </a:rPr>
              <a:t>de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7" dirty="0">
                <a:latin typeface="Trebuchet MS"/>
                <a:cs typeface="Trebuchet MS"/>
              </a:rPr>
              <a:t>données</a:t>
            </a:r>
            <a:r>
              <a:rPr sz="1333" b="1" i="1" spc="-67" dirty="0">
                <a:latin typeface="Trebuchet MS"/>
                <a:cs typeface="Trebuchet MS"/>
              </a:rPr>
              <a:t> </a:t>
            </a:r>
            <a:r>
              <a:rPr sz="1333" b="1" i="1" spc="7" dirty="0">
                <a:latin typeface="Trebuchet MS"/>
                <a:cs typeface="Trebuchet MS"/>
              </a:rPr>
              <a:t>en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13" dirty="0">
                <a:latin typeface="Trebuchet MS"/>
                <a:cs typeface="Trebuchet MS"/>
              </a:rPr>
              <a:t>2</a:t>
            </a:r>
            <a:r>
              <a:rPr sz="1333" b="1" i="1" spc="-67" dirty="0">
                <a:latin typeface="Trebuchet MS"/>
                <a:cs typeface="Trebuchet MS"/>
              </a:rPr>
              <a:t> </a:t>
            </a:r>
            <a:r>
              <a:rPr sz="1333" b="1" i="1" spc="-27" dirty="0">
                <a:latin typeface="Trebuchet MS"/>
                <a:cs typeface="Trebuchet MS"/>
              </a:rPr>
              <a:t>sets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-47" dirty="0">
                <a:latin typeface="Trebuchet MS"/>
                <a:cs typeface="Trebuchet MS"/>
              </a:rPr>
              <a:t>distincts</a:t>
            </a:r>
            <a:r>
              <a:rPr sz="1333" b="1" i="1" spc="-67" dirty="0">
                <a:latin typeface="Trebuchet MS"/>
                <a:cs typeface="Trebuchet MS"/>
              </a:rPr>
              <a:t> </a:t>
            </a:r>
            <a:r>
              <a:rPr sz="1333" b="1" i="1" spc="-152" dirty="0">
                <a:latin typeface="Trebuchet MS"/>
                <a:cs typeface="Trebuchet MS"/>
              </a:rPr>
              <a:t>:</a:t>
            </a:r>
            <a:endParaRPr sz="1333" dirty="0">
              <a:latin typeface="Trebuchet MS"/>
              <a:cs typeface="Trebuchet MS"/>
            </a:endParaRPr>
          </a:p>
          <a:p>
            <a:pPr marL="16933"/>
            <a:r>
              <a:rPr sz="1333" b="1" i="1" dirty="0">
                <a:latin typeface="Trebuchet MS"/>
                <a:cs typeface="Trebuchet MS"/>
              </a:rPr>
              <a:t>base</a:t>
            </a:r>
            <a:r>
              <a:rPr sz="1333" b="1" i="1" spc="-67" dirty="0">
                <a:latin typeface="Trebuchet MS"/>
                <a:cs typeface="Trebuchet MS"/>
              </a:rPr>
              <a:t> </a:t>
            </a:r>
            <a:r>
              <a:rPr sz="1333" b="1" i="1" spc="-7" dirty="0">
                <a:latin typeface="Trebuchet MS"/>
                <a:cs typeface="Trebuchet MS"/>
              </a:rPr>
              <a:t>de</a:t>
            </a:r>
            <a:r>
              <a:rPr sz="1333" b="1" i="1" spc="-67" dirty="0">
                <a:latin typeface="Trebuchet MS"/>
                <a:cs typeface="Trebuchet MS"/>
              </a:rPr>
              <a:t> </a:t>
            </a:r>
            <a:r>
              <a:rPr sz="1333" b="1" i="1" spc="7" dirty="0">
                <a:latin typeface="Trebuchet MS"/>
                <a:cs typeface="Trebuchet MS"/>
              </a:rPr>
              <a:t>données</a:t>
            </a:r>
            <a:r>
              <a:rPr sz="1333" b="1" i="1" spc="-67" dirty="0">
                <a:latin typeface="Trebuchet MS"/>
                <a:cs typeface="Trebuchet MS"/>
              </a:rPr>
              <a:t> </a:t>
            </a:r>
            <a:r>
              <a:rPr sz="1333" b="1" i="1" spc="7" dirty="0">
                <a:latin typeface="Trebuchet MS"/>
                <a:cs typeface="Trebuchet MS"/>
              </a:rPr>
              <a:t>en</a:t>
            </a:r>
            <a:r>
              <a:rPr sz="1333" b="1" i="1" spc="-67" dirty="0">
                <a:latin typeface="Trebuchet MS"/>
                <a:cs typeface="Trebuchet MS"/>
              </a:rPr>
              <a:t> </a:t>
            </a:r>
            <a:r>
              <a:rPr sz="1333" b="1" i="1" spc="13" dirty="0">
                <a:latin typeface="Trebuchet MS"/>
                <a:cs typeface="Trebuchet MS"/>
              </a:rPr>
              <a:t>2</a:t>
            </a:r>
            <a:r>
              <a:rPr sz="1333" b="1" i="1" spc="-67" dirty="0">
                <a:latin typeface="Trebuchet MS"/>
                <a:cs typeface="Trebuchet MS"/>
              </a:rPr>
              <a:t> </a:t>
            </a:r>
            <a:r>
              <a:rPr sz="1333" b="1" i="1" spc="-27" dirty="0">
                <a:latin typeface="Trebuchet MS"/>
                <a:cs typeface="Trebuchet MS"/>
              </a:rPr>
              <a:t>sets</a:t>
            </a:r>
            <a:r>
              <a:rPr sz="1333" b="1" i="1" spc="-67" dirty="0">
                <a:latin typeface="Trebuchet MS"/>
                <a:cs typeface="Trebuchet MS"/>
              </a:rPr>
              <a:t> </a:t>
            </a:r>
            <a:r>
              <a:rPr sz="1333" b="1" i="1" spc="-47" dirty="0">
                <a:latin typeface="Trebuchet MS"/>
                <a:cs typeface="Trebuchet MS"/>
              </a:rPr>
              <a:t>distincts</a:t>
            </a:r>
            <a:r>
              <a:rPr sz="1333" b="1" i="1" spc="-67" dirty="0">
                <a:latin typeface="Trebuchet MS"/>
                <a:cs typeface="Trebuchet MS"/>
              </a:rPr>
              <a:t> </a:t>
            </a:r>
            <a:r>
              <a:rPr sz="1333" b="1" i="1" spc="-152" dirty="0">
                <a:latin typeface="Trebuchet MS"/>
                <a:cs typeface="Trebuchet MS"/>
              </a:rPr>
              <a:t>:</a:t>
            </a:r>
            <a:endParaRPr sz="1333" dirty="0">
              <a:latin typeface="Trebuchet MS"/>
              <a:cs typeface="Trebuchet MS"/>
            </a:endParaRPr>
          </a:p>
          <a:p>
            <a:pPr marL="120224" indent="-104137">
              <a:buChar char="•"/>
              <a:tabLst>
                <a:tab pos="121070" algn="l"/>
              </a:tabLst>
            </a:pPr>
            <a:r>
              <a:rPr sz="1333" b="1" i="1" spc="53" dirty="0">
                <a:latin typeface="Trebuchet MS"/>
                <a:cs typeface="Trebuchet MS"/>
              </a:rPr>
              <a:t>Un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-40" dirty="0">
                <a:latin typeface="Trebuchet MS"/>
                <a:cs typeface="Trebuchet MS"/>
              </a:rPr>
              <a:t>dataset</a:t>
            </a:r>
            <a:r>
              <a:rPr sz="1333" b="1" i="1" spc="-53" dirty="0">
                <a:latin typeface="Trebuchet MS"/>
                <a:cs typeface="Trebuchet MS"/>
              </a:rPr>
              <a:t> </a:t>
            </a:r>
            <a:r>
              <a:rPr sz="1333" b="1" i="1" spc="-100" dirty="0">
                <a:latin typeface="Trebuchet MS"/>
                <a:cs typeface="Trebuchet MS"/>
              </a:rPr>
              <a:t>“train”</a:t>
            </a:r>
            <a:r>
              <a:rPr sz="1333" b="1" i="1" spc="-53" dirty="0">
                <a:latin typeface="Trebuchet MS"/>
                <a:cs typeface="Trebuchet MS"/>
              </a:rPr>
              <a:t> </a:t>
            </a:r>
            <a:r>
              <a:rPr sz="1333" b="1" i="1" spc="-40" dirty="0">
                <a:latin typeface="Trebuchet MS"/>
                <a:cs typeface="Trebuchet MS"/>
              </a:rPr>
              <a:t>aﬁn</a:t>
            </a:r>
            <a:r>
              <a:rPr sz="1333" b="1" i="1" spc="-53" dirty="0">
                <a:latin typeface="Trebuchet MS"/>
                <a:cs typeface="Trebuchet MS"/>
              </a:rPr>
              <a:t> </a:t>
            </a:r>
            <a:r>
              <a:rPr sz="1333" b="1" i="1" spc="-7" dirty="0">
                <a:latin typeface="Trebuchet MS"/>
                <a:cs typeface="Trebuchet MS"/>
              </a:rPr>
              <a:t>de</a:t>
            </a:r>
            <a:r>
              <a:rPr sz="1333" b="1" i="1" spc="-53" dirty="0">
                <a:latin typeface="Trebuchet MS"/>
                <a:cs typeface="Trebuchet MS"/>
              </a:rPr>
              <a:t> </a:t>
            </a:r>
            <a:r>
              <a:rPr sz="1333" b="1" i="1" spc="-40" dirty="0">
                <a:latin typeface="Trebuchet MS"/>
                <a:cs typeface="Trebuchet MS"/>
              </a:rPr>
              <a:t>pouvoir</a:t>
            </a:r>
            <a:r>
              <a:rPr sz="1333" b="1" i="1" spc="-53" dirty="0">
                <a:latin typeface="Trebuchet MS"/>
                <a:cs typeface="Trebuchet MS"/>
              </a:rPr>
              <a:t> entraîner </a:t>
            </a:r>
            <a:r>
              <a:rPr sz="1333" b="1" i="1" spc="-47" dirty="0">
                <a:latin typeface="Trebuchet MS"/>
                <a:cs typeface="Trebuchet MS"/>
              </a:rPr>
              <a:t>notre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-67" dirty="0">
                <a:latin typeface="Trebuchet MS"/>
                <a:cs typeface="Trebuchet MS"/>
              </a:rPr>
              <a:t>futur</a:t>
            </a:r>
            <a:r>
              <a:rPr sz="1333" b="1" i="1" spc="-53" dirty="0">
                <a:latin typeface="Trebuchet MS"/>
                <a:cs typeface="Trebuchet MS"/>
              </a:rPr>
              <a:t> </a:t>
            </a:r>
            <a:r>
              <a:rPr sz="1333" b="1" i="1" spc="-13" dirty="0">
                <a:latin typeface="Trebuchet MS"/>
                <a:cs typeface="Trebuchet MS"/>
              </a:rPr>
              <a:t>modèle</a:t>
            </a:r>
            <a:r>
              <a:rPr sz="1333" b="1" i="1" spc="-53" dirty="0">
                <a:latin typeface="Trebuchet MS"/>
                <a:cs typeface="Trebuchet MS"/>
              </a:rPr>
              <a:t> </a:t>
            </a:r>
            <a:r>
              <a:rPr sz="1333" b="1" i="1" spc="-7" dirty="0">
                <a:latin typeface="Trebuchet MS"/>
                <a:cs typeface="Trebuchet MS"/>
              </a:rPr>
              <a:t>de</a:t>
            </a:r>
            <a:r>
              <a:rPr sz="1333" b="1" i="1" spc="-53" dirty="0">
                <a:latin typeface="Trebuchet MS"/>
                <a:cs typeface="Trebuchet MS"/>
              </a:rPr>
              <a:t> </a:t>
            </a:r>
            <a:r>
              <a:rPr sz="1333" b="1" i="1" spc="-47" dirty="0">
                <a:latin typeface="Trebuchet MS"/>
                <a:cs typeface="Trebuchet MS"/>
              </a:rPr>
              <a:t>prédiction</a:t>
            </a:r>
            <a:r>
              <a:rPr sz="1333" b="1" i="1" spc="-53" dirty="0">
                <a:latin typeface="Trebuchet MS"/>
                <a:cs typeface="Trebuchet MS"/>
              </a:rPr>
              <a:t> </a:t>
            </a:r>
            <a:r>
              <a:rPr sz="1333" b="1" i="1" spc="7" dirty="0">
                <a:latin typeface="Trebuchet MS"/>
                <a:cs typeface="Trebuchet MS"/>
              </a:rPr>
              <a:t>du</a:t>
            </a:r>
            <a:r>
              <a:rPr sz="1333" b="1" i="1" spc="-53" dirty="0">
                <a:latin typeface="Trebuchet MS"/>
                <a:cs typeface="Trebuchet MS"/>
              </a:rPr>
              <a:t> </a:t>
            </a:r>
            <a:r>
              <a:rPr sz="1333" b="1" i="1" spc="-40" dirty="0">
                <a:latin typeface="Trebuchet MS"/>
                <a:cs typeface="Trebuchet MS"/>
              </a:rPr>
              <a:t>nutriscore</a:t>
            </a:r>
            <a:r>
              <a:rPr sz="1333" b="1" i="1" spc="-53" dirty="0">
                <a:latin typeface="Trebuchet MS"/>
                <a:cs typeface="Trebuchet MS"/>
              </a:rPr>
              <a:t> </a:t>
            </a:r>
            <a:r>
              <a:rPr sz="1333" b="1" i="1" spc="-20" dirty="0">
                <a:latin typeface="Trebuchet MS"/>
                <a:cs typeface="Trebuchet MS"/>
              </a:rPr>
              <a:t>(70%</a:t>
            </a:r>
            <a:r>
              <a:rPr sz="1333" b="1" i="1" spc="-53" dirty="0">
                <a:latin typeface="Trebuchet MS"/>
                <a:cs typeface="Trebuchet MS"/>
              </a:rPr>
              <a:t> </a:t>
            </a:r>
            <a:r>
              <a:rPr sz="1333" b="1" i="1" dirty="0">
                <a:latin typeface="Trebuchet MS"/>
                <a:cs typeface="Trebuchet MS"/>
              </a:rPr>
              <a:t>des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-7" dirty="0">
                <a:latin typeface="Trebuchet MS"/>
                <a:cs typeface="Trebuchet MS"/>
              </a:rPr>
              <a:t>données)</a:t>
            </a:r>
            <a:endParaRPr sz="1333" dirty="0">
              <a:latin typeface="Trebuchet MS"/>
              <a:cs typeface="Trebuchet MS"/>
            </a:endParaRPr>
          </a:p>
          <a:p>
            <a:pPr marL="120224" indent="-104137">
              <a:buChar char="•"/>
              <a:tabLst>
                <a:tab pos="121070" algn="l"/>
              </a:tabLst>
            </a:pPr>
            <a:r>
              <a:rPr sz="1333" b="1" i="1" spc="53" dirty="0">
                <a:latin typeface="Trebuchet MS"/>
                <a:cs typeface="Trebuchet MS"/>
              </a:rPr>
              <a:t>Un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-40" dirty="0">
                <a:latin typeface="Trebuchet MS"/>
                <a:cs typeface="Trebuchet MS"/>
              </a:rPr>
              <a:t>dataset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-100" dirty="0">
                <a:latin typeface="Trebuchet MS"/>
                <a:cs typeface="Trebuchet MS"/>
              </a:rPr>
              <a:t>“test”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-40" dirty="0">
                <a:latin typeface="Trebuchet MS"/>
                <a:cs typeface="Trebuchet MS"/>
              </a:rPr>
              <a:t>aﬁn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-7" dirty="0">
                <a:latin typeface="Trebuchet MS"/>
                <a:cs typeface="Trebuchet MS"/>
              </a:rPr>
              <a:t>de</a:t>
            </a:r>
            <a:r>
              <a:rPr sz="1333" b="1" i="1" spc="-60" dirty="0">
                <a:latin typeface="Trebuchet MS"/>
                <a:cs typeface="Trebuchet MS"/>
              </a:rPr>
              <a:t> tester </a:t>
            </a:r>
            <a:r>
              <a:rPr sz="1333" b="1" i="1" spc="-47" dirty="0">
                <a:latin typeface="Trebuchet MS"/>
                <a:cs typeface="Trebuchet MS"/>
              </a:rPr>
              <a:t>le</a:t>
            </a:r>
            <a:r>
              <a:rPr sz="1333" b="1" i="1" spc="-53" dirty="0">
                <a:latin typeface="Trebuchet MS"/>
                <a:cs typeface="Trebuchet MS"/>
              </a:rPr>
              <a:t> </a:t>
            </a:r>
            <a:r>
              <a:rPr sz="1333" b="1" i="1" spc="-20" dirty="0">
                <a:latin typeface="Trebuchet MS"/>
                <a:cs typeface="Trebuchet MS"/>
              </a:rPr>
              <a:t>niveau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-7" dirty="0">
                <a:latin typeface="Trebuchet MS"/>
                <a:cs typeface="Trebuchet MS"/>
              </a:rPr>
              <a:t>de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-33" dirty="0">
                <a:latin typeface="Trebuchet MS"/>
                <a:cs typeface="Trebuchet MS"/>
              </a:rPr>
              <a:t>précision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-7" dirty="0">
                <a:latin typeface="Trebuchet MS"/>
                <a:cs typeface="Trebuchet MS"/>
              </a:rPr>
              <a:t>de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-47" dirty="0">
                <a:latin typeface="Trebuchet MS"/>
                <a:cs typeface="Trebuchet MS"/>
              </a:rPr>
              <a:t>notre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-13" dirty="0">
                <a:latin typeface="Trebuchet MS"/>
                <a:cs typeface="Trebuchet MS"/>
              </a:rPr>
              <a:t>modèle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7" dirty="0">
                <a:latin typeface="Trebuchet MS"/>
                <a:cs typeface="Trebuchet MS"/>
              </a:rPr>
              <a:t>en</a:t>
            </a:r>
            <a:r>
              <a:rPr sz="1333" b="1" i="1" spc="-53" dirty="0">
                <a:latin typeface="Trebuchet MS"/>
                <a:cs typeface="Trebuchet MS"/>
              </a:rPr>
              <a:t> </a:t>
            </a:r>
            <a:r>
              <a:rPr sz="1333" b="1" i="1" spc="-173" dirty="0">
                <a:latin typeface="Trebuchet MS"/>
                <a:cs typeface="Trebuchet MS"/>
              </a:rPr>
              <a:t>“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-13" dirty="0">
                <a:latin typeface="Trebuchet MS"/>
                <a:cs typeface="Trebuchet MS"/>
              </a:rPr>
              <a:t>mise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7" dirty="0">
                <a:latin typeface="Trebuchet MS"/>
                <a:cs typeface="Trebuchet MS"/>
              </a:rPr>
              <a:t>en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-47" dirty="0">
                <a:latin typeface="Trebuchet MS"/>
                <a:cs typeface="Trebuchet MS"/>
              </a:rPr>
              <a:t>production”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-7" dirty="0">
                <a:latin typeface="Trebuchet MS"/>
                <a:cs typeface="Trebuchet MS"/>
              </a:rPr>
              <a:t>(30%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dirty="0">
                <a:latin typeface="Trebuchet MS"/>
                <a:cs typeface="Trebuchet MS"/>
              </a:rPr>
              <a:t>des</a:t>
            </a:r>
            <a:r>
              <a:rPr sz="1333" b="1" i="1" spc="-60" dirty="0">
                <a:latin typeface="Trebuchet MS"/>
                <a:cs typeface="Trebuchet MS"/>
              </a:rPr>
              <a:t> </a:t>
            </a:r>
            <a:r>
              <a:rPr sz="1333" b="1" i="1" spc="-7" dirty="0">
                <a:latin typeface="Trebuchet MS"/>
                <a:cs typeface="Trebuchet MS"/>
              </a:rPr>
              <a:t>données)</a:t>
            </a:r>
            <a:endParaRPr sz="1333" dirty="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51151" y="5735983"/>
            <a:ext cx="3939131" cy="8118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1533" y="433583"/>
            <a:ext cx="4834467" cy="96107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fr-FR" spc="140"/>
              <a:t>Nettoyage</a:t>
            </a:r>
            <a:r>
              <a:rPr lang="fr-FR" spc="-193"/>
              <a:t> </a:t>
            </a:r>
            <a:r>
              <a:rPr lang="fr-FR" spc="27"/>
              <a:t>des</a:t>
            </a:r>
            <a:r>
              <a:rPr lang="fr-FR" spc="-187"/>
              <a:t> </a:t>
            </a:r>
            <a:r>
              <a:rPr lang="fr-FR" spc="73"/>
              <a:t>données</a:t>
            </a:r>
            <a:endParaRPr lang="fr-FR" spc="73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8394" y="1570966"/>
            <a:ext cx="8966869" cy="34883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1532" y="115218"/>
            <a:ext cx="4834467" cy="112509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40" dirty="0"/>
              <a:t>Nettoyage</a:t>
            </a:r>
            <a:r>
              <a:rPr spc="-193" dirty="0"/>
              <a:t> </a:t>
            </a:r>
            <a:r>
              <a:rPr spc="27" dirty="0"/>
              <a:t>des</a:t>
            </a:r>
            <a:r>
              <a:rPr spc="-187" dirty="0"/>
              <a:t> </a:t>
            </a:r>
            <a:r>
              <a:rPr spc="73" dirty="0"/>
              <a:t>données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633" y="1432341"/>
            <a:ext cx="10324731" cy="44727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3383" y="357744"/>
            <a:ext cx="6310392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40" dirty="0"/>
              <a:t>Nettoyage</a:t>
            </a:r>
            <a:r>
              <a:rPr spc="-193" dirty="0"/>
              <a:t> </a:t>
            </a:r>
            <a:r>
              <a:rPr spc="27" dirty="0"/>
              <a:t>des</a:t>
            </a:r>
            <a:r>
              <a:rPr spc="-187" dirty="0"/>
              <a:t> </a:t>
            </a:r>
            <a:r>
              <a:rPr spc="73" dirty="0"/>
              <a:t>données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991" y="2004779"/>
            <a:ext cx="3097333" cy="22802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3383" y="1723767"/>
            <a:ext cx="2273300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b="1" spc="-20" dirty="0">
                <a:latin typeface="Trebuchet MS"/>
                <a:cs typeface="Trebuchet MS"/>
              </a:rPr>
              <a:t>Boxplot</a:t>
            </a:r>
            <a:r>
              <a:rPr sz="1067" b="1" spc="-53" dirty="0">
                <a:latin typeface="Trebuchet MS"/>
                <a:cs typeface="Trebuchet MS"/>
              </a:rPr>
              <a:t> </a:t>
            </a:r>
            <a:r>
              <a:rPr sz="1067" b="1" spc="-13" dirty="0">
                <a:latin typeface="Trebuchet MS"/>
                <a:cs typeface="Trebuchet MS"/>
              </a:rPr>
              <a:t>energy_100g</a:t>
            </a:r>
            <a:r>
              <a:rPr sz="1067" b="1" spc="-47" dirty="0">
                <a:latin typeface="Trebuchet MS"/>
                <a:cs typeface="Trebuchet MS"/>
              </a:rPr>
              <a:t> </a:t>
            </a:r>
            <a:r>
              <a:rPr sz="1067" b="1" spc="-20" dirty="0">
                <a:latin typeface="Trebuchet MS"/>
                <a:cs typeface="Trebuchet MS"/>
              </a:rPr>
              <a:t>avant</a:t>
            </a:r>
            <a:r>
              <a:rPr sz="1067" b="1" spc="-47" dirty="0">
                <a:latin typeface="Trebuchet MS"/>
                <a:cs typeface="Trebuchet MS"/>
              </a:rPr>
              <a:t> </a:t>
            </a:r>
            <a:r>
              <a:rPr sz="1067" b="1" spc="-13" dirty="0">
                <a:latin typeface="Trebuchet MS"/>
                <a:cs typeface="Trebuchet MS"/>
              </a:rPr>
              <a:t>cleaning</a:t>
            </a:r>
            <a:endParaRPr sz="1067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02025" y="1723767"/>
            <a:ext cx="2273300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b="1" spc="-20" dirty="0">
                <a:latin typeface="Trebuchet MS"/>
                <a:cs typeface="Trebuchet MS"/>
              </a:rPr>
              <a:t>Boxplot</a:t>
            </a:r>
            <a:r>
              <a:rPr sz="1067" b="1" spc="-53" dirty="0">
                <a:latin typeface="Trebuchet MS"/>
                <a:cs typeface="Trebuchet MS"/>
              </a:rPr>
              <a:t> </a:t>
            </a:r>
            <a:r>
              <a:rPr sz="1067" b="1" spc="-13" dirty="0">
                <a:latin typeface="Trebuchet MS"/>
                <a:cs typeface="Trebuchet MS"/>
              </a:rPr>
              <a:t>energy_100g</a:t>
            </a:r>
            <a:r>
              <a:rPr sz="1067" b="1" spc="-47" dirty="0">
                <a:latin typeface="Trebuchet MS"/>
                <a:cs typeface="Trebuchet MS"/>
              </a:rPr>
              <a:t> </a:t>
            </a:r>
            <a:r>
              <a:rPr sz="1067" b="1" spc="-13" dirty="0">
                <a:latin typeface="Trebuchet MS"/>
                <a:cs typeface="Trebuchet MS"/>
              </a:rPr>
              <a:t>après</a:t>
            </a:r>
            <a:r>
              <a:rPr sz="1067" b="1" spc="-47" dirty="0">
                <a:latin typeface="Trebuchet MS"/>
                <a:cs typeface="Trebuchet MS"/>
              </a:rPr>
              <a:t> </a:t>
            </a:r>
            <a:r>
              <a:rPr sz="1067" b="1" spc="-13" dirty="0">
                <a:latin typeface="Trebuchet MS"/>
                <a:cs typeface="Trebuchet MS"/>
              </a:rPr>
              <a:t>cleaning</a:t>
            </a:r>
            <a:endParaRPr sz="1067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33219" y="2004779"/>
            <a:ext cx="3210303" cy="23175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84707" y="1065982"/>
            <a:ext cx="835660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Mise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à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NaN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des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valeurs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extrêmes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pour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l’énergie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via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la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méthode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des</a:t>
            </a:r>
            <a:r>
              <a:rPr sz="1867" spc="-1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percentiles</a:t>
            </a:r>
            <a:endParaRPr sz="1867" dirty="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7782" y="2657130"/>
            <a:ext cx="1104415" cy="60868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38757" y="4956754"/>
            <a:ext cx="4701539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-847" algn="ctr">
              <a:spcBef>
                <a:spcPts val="133"/>
              </a:spcBef>
            </a:pPr>
            <a:r>
              <a:rPr sz="1600" b="1" spc="-13" dirty="0">
                <a:solidFill>
                  <a:srgbClr val="274E13"/>
                </a:solidFill>
                <a:latin typeface="Roboto"/>
                <a:cs typeface="Roboto"/>
              </a:rPr>
              <a:t>0,995 </a:t>
            </a:r>
            <a:r>
              <a:rPr sz="1600" b="1" dirty="0">
                <a:solidFill>
                  <a:srgbClr val="274E13"/>
                </a:solidFill>
                <a:latin typeface="Roboto"/>
                <a:cs typeface="Roboto"/>
              </a:rPr>
              <a:t>percentile semble pertinent </a:t>
            </a:r>
            <a:r>
              <a:rPr sz="1600" b="1" spc="-7" dirty="0">
                <a:solidFill>
                  <a:srgbClr val="274E13"/>
                </a:solidFill>
                <a:latin typeface="Roboto"/>
                <a:cs typeface="Roboto"/>
              </a:rPr>
              <a:t>(3761 </a:t>
            </a:r>
            <a:r>
              <a:rPr sz="1600" b="1" spc="-13" dirty="0">
                <a:solidFill>
                  <a:srgbClr val="274E13"/>
                </a:solidFill>
                <a:latin typeface="Roboto"/>
                <a:cs typeface="Roboto"/>
              </a:rPr>
              <a:t>Kj) </a:t>
            </a:r>
            <a:r>
              <a:rPr sz="1600" b="1" spc="-7" dirty="0">
                <a:solidFill>
                  <a:srgbClr val="274E13"/>
                </a:solidFill>
                <a:latin typeface="Roboto"/>
                <a:cs typeface="Roboto"/>
              </a:rPr>
              <a:t> correspondent </a:t>
            </a:r>
            <a:r>
              <a:rPr sz="1600" b="1" spc="-13" dirty="0">
                <a:solidFill>
                  <a:srgbClr val="274E13"/>
                </a:solidFill>
                <a:latin typeface="Roboto"/>
                <a:cs typeface="Roboto"/>
              </a:rPr>
              <a:t>aux</a:t>
            </a:r>
            <a:r>
              <a:rPr sz="1600" b="1" spc="-7" dirty="0">
                <a:solidFill>
                  <a:srgbClr val="274E13"/>
                </a:solidFill>
                <a:latin typeface="Roboto"/>
                <a:cs typeface="Roboto"/>
              </a:rPr>
              <a:t> valeurs </a:t>
            </a:r>
            <a:r>
              <a:rPr sz="1600" b="1" dirty="0">
                <a:solidFill>
                  <a:srgbClr val="274E13"/>
                </a:solidFill>
                <a:latin typeface="Roboto"/>
                <a:cs typeface="Roboto"/>
              </a:rPr>
              <a:t>que </a:t>
            </a:r>
            <a:r>
              <a:rPr sz="1600" b="1" spc="-47" dirty="0">
                <a:solidFill>
                  <a:srgbClr val="274E13"/>
                </a:solidFill>
                <a:latin typeface="Roboto"/>
                <a:cs typeface="Roboto"/>
              </a:rPr>
              <a:t>l'on</a:t>
            </a:r>
            <a:r>
              <a:rPr sz="1600" b="1" spc="-7" dirty="0">
                <a:solidFill>
                  <a:srgbClr val="274E13"/>
                </a:solidFill>
                <a:latin typeface="Roboto"/>
                <a:cs typeface="Roboto"/>
              </a:rPr>
              <a:t> peut trouver sur </a:t>
            </a:r>
            <a:r>
              <a:rPr sz="1600" b="1" spc="-373" dirty="0">
                <a:solidFill>
                  <a:srgbClr val="274E13"/>
                </a:solidFill>
                <a:latin typeface="Roboto"/>
                <a:cs typeface="Roboto"/>
              </a:rPr>
              <a:t> </a:t>
            </a:r>
            <a:r>
              <a:rPr sz="1600" b="1" spc="-20" dirty="0">
                <a:solidFill>
                  <a:srgbClr val="274E13"/>
                </a:solidFill>
                <a:latin typeface="Roboto"/>
                <a:cs typeface="Roboto"/>
              </a:rPr>
              <a:t>l'huile</a:t>
            </a:r>
            <a:r>
              <a:rPr sz="1600" b="1" spc="-13" dirty="0">
                <a:solidFill>
                  <a:srgbClr val="274E13"/>
                </a:solidFill>
                <a:latin typeface="Roboto"/>
                <a:cs typeface="Roboto"/>
              </a:rPr>
              <a:t> </a:t>
            </a:r>
            <a:r>
              <a:rPr sz="1600" b="1" spc="7" dirty="0">
                <a:solidFill>
                  <a:srgbClr val="274E13"/>
                </a:solidFill>
                <a:latin typeface="Roboto"/>
                <a:cs typeface="Roboto"/>
              </a:rPr>
              <a:t>de</a:t>
            </a:r>
            <a:r>
              <a:rPr sz="1600" b="1" spc="-7" dirty="0">
                <a:solidFill>
                  <a:srgbClr val="274E13"/>
                </a:solidFill>
                <a:latin typeface="Roboto"/>
                <a:cs typeface="Roboto"/>
              </a:rPr>
              <a:t> </a:t>
            </a:r>
            <a:r>
              <a:rPr sz="1600" b="1" spc="-13" dirty="0">
                <a:solidFill>
                  <a:srgbClr val="274E13"/>
                </a:solidFill>
                <a:latin typeface="Roboto"/>
                <a:cs typeface="Roboto"/>
              </a:rPr>
              <a:t>cuisson)</a:t>
            </a:r>
            <a:endParaRPr sz="1600" dirty="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575733" y="1726067"/>
            <a:ext cx="2339340" cy="4690533"/>
            <a:chOff x="7300724" y="1514949"/>
            <a:chExt cx="1754505" cy="35179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0724" y="1514949"/>
              <a:ext cx="1753899" cy="351727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578724" y="2789449"/>
              <a:ext cx="1240155" cy="288290"/>
            </a:xfrm>
            <a:custGeom>
              <a:avLst/>
              <a:gdLst/>
              <a:ahLst/>
              <a:cxnLst/>
              <a:rect l="l" t="t" r="r" b="b"/>
              <a:pathLst>
                <a:path w="1240154" h="288289">
                  <a:moveTo>
                    <a:pt x="0" y="47950"/>
                  </a:moveTo>
                  <a:lnTo>
                    <a:pt x="3768" y="29286"/>
                  </a:lnTo>
                  <a:lnTo>
                    <a:pt x="14044" y="14044"/>
                  </a:lnTo>
                  <a:lnTo>
                    <a:pt x="29286" y="3768"/>
                  </a:lnTo>
                  <a:lnTo>
                    <a:pt x="47950" y="0"/>
                  </a:lnTo>
                  <a:lnTo>
                    <a:pt x="1191949" y="0"/>
                  </a:lnTo>
                  <a:lnTo>
                    <a:pt x="1231843" y="21347"/>
                  </a:lnTo>
                  <a:lnTo>
                    <a:pt x="1239899" y="47950"/>
                  </a:lnTo>
                  <a:lnTo>
                    <a:pt x="1239899" y="239748"/>
                  </a:lnTo>
                  <a:lnTo>
                    <a:pt x="1236131" y="258413"/>
                  </a:lnTo>
                  <a:lnTo>
                    <a:pt x="1225855" y="273655"/>
                  </a:lnTo>
                  <a:lnTo>
                    <a:pt x="1210613" y="283931"/>
                  </a:lnTo>
                  <a:lnTo>
                    <a:pt x="1191949" y="287699"/>
                  </a:lnTo>
                  <a:lnTo>
                    <a:pt x="47950" y="287699"/>
                  </a:lnTo>
                  <a:lnTo>
                    <a:pt x="29286" y="283931"/>
                  </a:lnTo>
                  <a:lnTo>
                    <a:pt x="14044" y="273655"/>
                  </a:lnTo>
                  <a:lnTo>
                    <a:pt x="3768" y="258413"/>
                  </a:lnTo>
                  <a:lnTo>
                    <a:pt x="0" y="239748"/>
                  </a:lnTo>
                  <a:lnTo>
                    <a:pt x="0" y="4795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50C065C3-0FE3-4452-B765-CB05BBB2A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795E515-5F57-431F-9A0D-3A0419DF7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D45BCBFE-0478-4767-BF2E-FC2C548BA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E903928F-F6DA-470C-81A0-CF7D9DE03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DA095F6-E326-4450-A2D6-DB2BF989B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6B067F9A-FDF2-49EC-B4FF-CD4B90F78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F1331213-D19D-49FC-8616-168A14565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2ADFE242-96FC-4A14-8C59-90CD6DE1D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6A97B7BC-40BD-494B-9C6B-AF3045559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3D7F35CF-F44C-491F-904D-A31ED8321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84D9BF7E-18C2-452C-B139-4ED58D7A0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700A6223-AD38-426F-A6FE-7926CAEF3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D172AA94-449F-45EB-94E6-67C186C32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A7D4F697-8937-4F4C-83C5-770B3FCB8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10AF1D59-5117-4D47-8414-4BB61F944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2387DC33-88B3-4718-8C94-41659EA33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D4E7EC64-4763-4F04-B2E4-E400364D7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581717DF-9FD4-47CB-9579-E34DF7E87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BCD8EF50-6E58-4B2D-90B6-AFF236A73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6524A268-142A-4CBF-BB8B-DC1FCBC8F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56A0E6F3-B76B-4813-B44B-56CE11A8A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A74CED8D-B902-4B76-9CC8-30A09B2FA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ED007BD7-ED56-4566-B1FF-707160024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90AD48D2-5BC8-4C80-B126-B1A20124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BE14C82F-9F35-4D61-B758-7BCE32DEC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6540CE06-9028-497A-AC64-CF0ED60A74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A4825B3B-52CD-4F08-BA02-6C2B0EFED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6877A5EF-B8B8-44D3-AA57-4BBF89206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00BB365C-9180-4208-92CF-AB6A88848C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8D1134D2-53A6-41D5-AC1A-5254A2FBD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>
              <a:extLst>
                <a:ext uri="{FF2B5EF4-FFF2-40B4-BE49-F238E27FC236}">
                  <a16:creationId xmlns:a16="http://schemas.microsoft.com/office/drawing/2014/main" id="{24C7FA73-07CD-479A-9B9E-DAD4D3B2B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AB24DF92-B081-4701-B58D-913261A00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AB4DF275-6B82-4AA9-A7A9-138E631E30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972A3812-16AD-453E-B1E6-9F39894F7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8FB6759A-BAD8-4073-86A2-6DDD73DE2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9FCCB0F4-1178-47C1-9EE2-234EA715C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id="{CB01BF0B-7EB0-4C18-80BE-20D2EAC048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>
              <a:extLst>
                <a:ext uri="{FF2B5EF4-FFF2-40B4-BE49-F238E27FC236}">
                  <a16:creationId xmlns:a16="http://schemas.microsoft.com/office/drawing/2014/main" id="{3266E9DA-C937-48E0-8F98-90A467760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>
              <a:extLst>
                <a:ext uri="{FF2B5EF4-FFF2-40B4-BE49-F238E27FC236}">
                  <a16:creationId xmlns:a16="http://schemas.microsoft.com/office/drawing/2014/main" id="{A8A9C00D-0425-4E68-A1DE-BCE5BD6BB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>
              <a:extLst>
                <a:ext uri="{FF2B5EF4-FFF2-40B4-BE49-F238E27FC236}">
                  <a16:creationId xmlns:a16="http://schemas.microsoft.com/office/drawing/2014/main" id="{46230904-E744-4B55-84FF-826A6B737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>
              <a:extLst>
                <a:ext uri="{FF2B5EF4-FFF2-40B4-BE49-F238E27FC236}">
                  <a16:creationId xmlns:a16="http://schemas.microsoft.com/office/drawing/2014/main" id="{D4291668-8AF0-4784-BC06-870768F53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>
              <a:extLst>
                <a:ext uri="{FF2B5EF4-FFF2-40B4-BE49-F238E27FC236}">
                  <a16:creationId xmlns:a16="http://schemas.microsoft.com/office/drawing/2014/main" id="{D917DCBD-774B-4AAF-92AE-D18289FFC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>
              <a:extLst>
                <a:ext uri="{FF2B5EF4-FFF2-40B4-BE49-F238E27FC236}">
                  <a16:creationId xmlns:a16="http://schemas.microsoft.com/office/drawing/2014/main" id="{9E50122E-0F19-4D65-9CB2-E22C3EA84A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BC28A765-6E8B-4352-BD0C-35474F70AC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>
              <a:extLst>
                <a:ext uri="{FF2B5EF4-FFF2-40B4-BE49-F238E27FC236}">
                  <a16:creationId xmlns:a16="http://schemas.microsoft.com/office/drawing/2014/main" id="{0AC30A17-F494-44EB-9817-1B8B255CE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>
              <a:extLst>
                <a:ext uri="{FF2B5EF4-FFF2-40B4-BE49-F238E27FC236}">
                  <a16:creationId xmlns:a16="http://schemas.microsoft.com/office/drawing/2014/main" id="{6088D59F-32BD-4932-9C22-9AA0FCDA7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>
              <a:extLst>
                <a:ext uri="{FF2B5EF4-FFF2-40B4-BE49-F238E27FC236}">
                  <a16:creationId xmlns:a16="http://schemas.microsoft.com/office/drawing/2014/main" id="{B18BBE45-5F21-47FA-B291-AC802D715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>
              <a:extLst>
                <a:ext uri="{FF2B5EF4-FFF2-40B4-BE49-F238E27FC236}">
                  <a16:creationId xmlns:a16="http://schemas.microsoft.com/office/drawing/2014/main" id="{A1BD992D-1C4B-4E69-A627-A45D8958E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>
              <a:extLst>
                <a:ext uri="{FF2B5EF4-FFF2-40B4-BE49-F238E27FC236}">
                  <a16:creationId xmlns:a16="http://schemas.microsoft.com/office/drawing/2014/main" id="{571C0498-7105-455E-8B0A-233F850F1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>
              <a:extLst>
                <a:ext uri="{FF2B5EF4-FFF2-40B4-BE49-F238E27FC236}">
                  <a16:creationId xmlns:a16="http://schemas.microsoft.com/office/drawing/2014/main" id="{F6FA78CC-C0B1-422F-B535-05580A971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>
              <a:extLst>
                <a:ext uri="{FF2B5EF4-FFF2-40B4-BE49-F238E27FC236}">
                  <a16:creationId xmlns:a16="http://schemas.microsoft.com/office/drawing/2014/main" id="{49A1BACF-EE5E-46F8-8968-D4CF18BC0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>
              <a:extLst>
                <a:ext uri="{FF2B5EF4-FFF2-40B4-BE49-F238E27FC236}">
                  <a16:creationId xmlns:a16="http://schemas.microsoft.com/office/drawing/2014/main" id="{0AF8DFAF-8AF7-453E-AED7-89E59FBD7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>
              <a:extLst>
                <a:ext uri="{FF2B5EF4-FFF2-40B4-BE49-F238E27FC236}">
                  <a16:creationId xmlns:a16="http://schemas.microsoft.com/office/drawing/2014/main" id="{F8C26D97-8DA4-4556-92E4-2AE66B36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>
              <a:extLst>
                <a:ext uri="{FF2B5EF4-FFF2-40B4-BE49-F238E27FC236}">
                  <a16:creationId xmlns:a16="http://schemas.microsoft.com/office/drawing/2014/main" id="{EEF9D855-A8A7-44CC-919C-BEA327F25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>
              <a:extLst>
                <a:ext uri="{FF2B5EF4-FFF2-40B4-BE49-F238E27FC236}">
                  <a16:creationId xmlns:a16="http://schemas.microsoft.com/office/drawing/2014/main" id="{11F0B045-803C-4067-A182-066EEB2C4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>
              <a:extLst>
                <a:ext uri="{FF2B5EF4-FFF2-40B4-BE49-F238E27FC236}">
                  <a16:creationId xmlns:a16="http://schemas.microsoft.com/office/drawing/2014/main" id="{3C1FCACB-EFEF-4B54-99A6-E327A637C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57397" y="1113282"/>
            <a:ext cx="3489569" cy="2396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6933"/>
            <a:r>
              <a:rPr lang="en-US" sz="4400" spc="140">
                <a:solidFill>
                  <a:schemeClr val="tx1"/>
                </a:solidFill>
                <a:latin typeface="+mj-lt"/>
                <a:cs typeface="+mj-cs"/>
              </a:rPr>
              <a:t>Nettoyage</a:t>
            </a:r>
            <a:r>
              <a:rPr lang="en-US" sz="4400" spc="-193">
                <a:solidFill>
                  <a:schemeClr val="tx1"/>
                </a:solidFill>
                <a:latin typeface="+mj-lt"/>
                <a:cs typeface="+mj-cs"/>
              </a:rPr>
              <a:t> </a:t>
            </a:r>
            <a:r>
              <a:rPr lang="en-US" sz="4400" spc="27">
                <a:solidFill>
                  <a:schemeClr val="tx1"/>
                </a:solidFill>
                <a:latin typeface="+mj-lt"/>
                <a:cs typeface="+mj-cs"/>
              </a:rPr>
              <a:t>des</a:t>
            </a:r>
            <a:r>
              <a:rPr lang="en-US" sz="4400" spc="-187">
                <a:solidFill>
                  <a:schemeClr val="tx1"/>
                </a:solidFill>
                <a:latin typeface="+mj-lt"/>
                <a:cs typeface="+mj-cs"/>
              </a:rPr>
              <a:t> </a:t>
            </a:r>
            <a:r>
              <a:rPr lang="en-US" sz="4400" spc="73">
                <a:solidFill>
                  <a:schemeClr val="tx1"/>
                </a:solidFill>
                <a:latin typeface="+mj-lt"/>
                <a:cs typeface="+mj-cs"/>
              </a:rPr>
              <a:t>données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46666" y="3602038"/>
            <a:ext cx="3500301" cy="2052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b="1" cap="all" spc="-33">
                <a:solidFill>
                  <a:schemeClr val="tx2"/>
                </a:solidFill>
              </a:rPr>
              <a:t>Distribution</a:t>
            </a:r>
            <a:r>
              <a:rPr lang="en-US" b="1" cap="all" spc="-73">
                <a:solidFill>
                  <a:schemeClr val="tx2"/>
                </a:solidFill>
              </a:rPr>
              <a:t> </a:t>
            </a:r>
            <a:r>
              <a:rPr lang="en-US" b="1" cap="all" spc="-13">
                <a:solidFill>
                  <a:schemeClr val="tx2"/>
                </a:solidFill>
              </a:rPr>
              <a:t>de</a:t>
            </a:r>
            <a:r>
              <a:rPr lang="en-US" b="1" cap="all" spc="-67">
                <a:solidFill>
                  <a:schemeClr val="tx2"/>
                </a:solidFill>
              </a:rPr>
              <a:t> </a:t>
            </a:r>
            <a:r>
              <a:rPr lang="en-US" b="1" cap="all" spc="-13">
                <a:solidFill>
                  <a:schemeClr val="tx2"/>
                </a:solidFill>
              </a:rPr>
              <a:t>chaque</a:t>
            </a:r>
            <a:r>
              <a:rPr lang="en-US" b="1" cap="all" spc="-73">
                <a:solidFill>
                  <a:schemeClr val="tx2"/>
                </a:solidFill>
              </a:rPr>
              <a:t> </a:t>
            </a:r>
            <a:r>
              <a:rPr lang="en-US" b="1" cap="all" spc="-53">
                <a:solidFill>
                  <a:schemeClr val="tx2"/>
                </a:solidFill>
              </a:rPr>
              <a:t>feature</a:t>
            </a:r>
            <a:r>
              <a:rPr lang="en-US" b="1" cap="all" spc="-67">
                <a:solidFill>
                  <a:schemeClr val="tx2"/>
                </a:solidFill>
              </a:rPr>
              <a:t> </a:t>
            </a:r>
            <a:r>
              <a:rPr lang="en-US" b="1" cap="all" spc="-7">
                <a:solidFill>
                  <a:schemeClr val="tx2"/>
                </a:solidFill>
              </a:rPr>
              <a:t>du</a:t>
            </a:r>
            <a:r>
              <a:rPr lang="en-US" b="1" cap="all" spc="-67">
                <a:solidFill>
                  <a:schemeClr val="tx2"/>
                </a:solidFill>
              </a:rPr>
              <a:t> </a:t>
            </a:r>
            <a:r>
              <a:rPr lang="en-US" b="1" cap="all" spc="-60">
                <a:solidFill>
                  <a:schemeClr val="tx2"/>
                </a:solidFill>
              </a:rPr>
              <a:t>train</a:t>
            </a:r>
            <a:r>
              <a:rPr lang="en-US" b="1" cap="all" spc="-73">
                <a:solidFill>
                  <a:schemeClr val="tx2"/>
                </a:solidFill>
              </a:rPr>
              <a:t> </a:t>
            </a:r>
            <a:r>
              <a:rPr lang="en-US" b="1" cap="all" spc="-20">
                <a:solidFill>
                  <a:schemeClr val="tx2"/>
                </a:solidFill>
              </a:rPr>
              <a:t>dataset</a:t>
            </a:r>
            <a:endParaRPr lang="en-US" cap="all">
              <a:solidFill>
                <a:schemeClr val="tx2"/>
              </a:solidFill>
            </a:endParaRPr>
          </a:p>
        </p:txBody>
      </p:sp>
      <p:sp>
        <p:nvSpPr>
          <p:cNvPr id="67" name="Round Diagonal Corner Rectangle 6">
            <a:extLst>
              <a:ext uri="{FF2B5EF4-FFF2-40B4-BE49-F238E27FC236}">
                <a16:creationId xmlns:a16="http://schemas.microsoft.com/office/drawing/2014/main" id="{8B3F5CD4-CBC8-4A22-9DCC-0420CA28A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ject 3"/>
          <p:cNvPicPr/>
          <p:nvPr/>
        </p:nvPicPr>
        <p:blipFill rotWithShape="1">
          <a:blip r:embed="rId4" cstate="print"/>
          <a:srcRect r="4293" b="4"/>
          <a:stretch/>
        </p:blipFill>
        <p:spPr>
          <a:xfrm>
            <a:off x="1118988" y="1136606"/>
            <a:ext cx="6112382" cy="45772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2138" y="1053133"/>
            <a:ext cx="5409928" cy="41813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57566" y="5462521"/>
            <a:ext cx="6979073" cy="11687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00" spc="-7" dirty="0">
                <a:latin typeface="Arial MT"/>
                <a:cs typeface="Arial MT"/>
              </a:rPr>
              <a:t>Nous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7" dirty="0">
                <a:latin typeface="Arial MT"/>
                <a:cs typeface="Arial MT"/>
              </a:rPr>
              <a:t>pouvons</a:t>
            </a:r>
            <a:r>
              <a:rPr sz="1400" spc="-13" dirty="0">
                <a:latin typeface="Arial MT"/>
                <a:cs typeface="Arial MT"/>
              </a:rPr>
              <a:t> </a:t>
            </a:r>
            <a:r>
              <a:rPr sz="1400" spc="-7" dirty="0">
                <a:latin typeface="Arial MT"/>
                <a:cs typeface="Arial MT"/>
              </a:rPr>
              <a:t>observer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7" dirty="0">
                <a:latin typeface="Arial MT"/>
                <a:cs typeface="Arial MT"/>
              </a:rPr>
              <a:t>une</a:t>
            </a:r>
            <a:r>
              <a:rPr sz="1400" spc="-13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corrélation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significative</a:t>
            </a:r>
            <a:r>
              <a:rPr sz="1400" spc="-13" dirty="0">
                <a:latin typeface="Arial MT"/>
                <a:cs typeface="Arial MT"/>
              </a:rPr>
              <a:t> </a:t>
            </a:r>
            <a:r>
              <a:rPr sz="1400" spc="-7" dirty="0">
                <a:latin typeface="Arial MT"/>
                <a:cs typeface="Arial MT"/>
              </a:rPr>
              <a:t>entre</a:t>
            </a:r>
            <a:r>
              <a:rPr sz="1400" spc="-13" dirty="0">
                <a:latin typeface="Arial MT"/>
                <a:cs typeface="Arial MT"/>
              </a:rPr>
              <a:t> </a:t>
            </a:r>
            <a:r>
              <a:rPr sz="1400" spc="-7" dirty="0">
                <a:latin typeface="Arial MT"/>
                <a:cs typeface="Arial MT"/>
              </a:rPr>
              <a:t>les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caractéristiques</a:t>
            </a:r>
            <a:r>
              <a:rPr sz="1400" spc="-13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suivantes:</a:t>
            </a:r>
            <a:endParaRPr sz="1400">
              <a:latin typeface="Arial MT"/>
              <a:cs typeface="Arial MT"/>
            </a:endParaRPr>
          </a:p>
          <a:p>
            <a:pPr>
              <a:spcBef>
                <a:spcPts val="27"/>
              </a:spcBef>
            </a:pPr>
            <a:endParaRPr sz="1467">
              <a:latin typeface="Arial MT"/>
              <a:cs typeface="Arial MT"/>
            </a:endParaRPr>
          </a:p>
          <a:p>
            <a:pPr marL="626518" indent="-412316">
              <a:spcBef>
                <a:spcPts val="7"/>
              </a:spcBef>
              <a:buChar char="●"/>
              <a:tabLst>
                <a:tab pos="625671" algn="l"/>
                <a:tab pos="626518" algn="l"/>
              </a:tabLst>
            </a:pPr>
            <a:r>
              <a:rPr sz="1400" b="1" spc="-7" dirty="0">
                <a:latin typeface="Arial"/>
                <a:cs typeface="Arial"/>
              </a:rPr>
              <a:t>graisses</a:t>
            </a:r>
            <a:r>
              <a:rPr sz="1400" b="1" spc="-27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/</a:t>
            </a:r>
            <a:r>
              <a:rPr sz="1400" b="1" spc="-27" dirty="0">
                <a:latin typeface="Arial"/>
                <a:cs typeface="Arial"/>
              </a:rPr>
              <a:t> </a:t>
            </a:r>
            <a:r>
              <a:rPr sz="1400" b="1" spc="-7" dirty="0">
                <a:latin typeface="Arial"/>
                <a:cs typeface="Arial"/>
              </a:rPr>
              <a:t>graisses</a:t>
            </a:r>
            <a:r>
              <a:rPr sz="1400" b="1" spc="-27" dirty="0">
                <a:latin typeface="Arial"/>
                <a:cs typeface="Arial"/>
              </a:rPr>
              <a:t> </a:t>
            </a:r>
            <a:r>
              <a:rPr sz="1400" b="1" spc="-7" dirty="0">
                <a:latin typeface="Arial"/>
                <a:cs typeface="Arial"/>
              </a:rPr>
              <a:t>saturées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(fat/</a:t>
            </a:r>
            <a:r>
              <a:rPr sz="1400" b="1" spc="-27" dirty="0">
                <a:latin typeface="Arial"/>
                <a:cs typeface="Arial"/>
              </a:rPr>
              <a:t> </a:t>
            </a:r>
            <a:r>
              <a:rPr sz="1400" b="1" spc="-7" dirty="0">
                <a:latin typeface="Arial"/>
                <a:cs typeface="Arial"/>
              </a:rPr>
              <a:t>saturated-fat)</a:t>
            </a:r>
            <a:endParaRPr sz="1400">
              <a:latin typeface="Arial"/>
              <a:cs typeface="Arial"/>
            </a:endParaRPr>
          </a:p>
          <a:p>
            <a:pPr marL="626518" indent="-412316">
              <a:spcBef>
                <a:spcPts val="247"/>
              </a:spcBef>
              <a:buChar char="●"/>
              <a:tabLst>
                <a:tab pos="625671" algn="l"/>
                <a:tab pos="626518" algn="l"/>
              </a:tabLst>
            </a:pPr>
            <a:r>
              <a:rPr sz="1400" b="1" spc="-7" dirty="0">
                <a:latin typeface="Arial"/>
                <a:cs typeface="Arial"/>
              </a:rPr>
              <a:t>glucides</a:t>
            </a:r>
            <a:r>
              <a:rPr sz="1400" b="1" spc="-33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/</a:t>
            </a:r>
            <a:r>
              <a:rPr sz="1400" b="1" spc="-27" dirty="0">
                <a:latin typeface="Arial"/>
                <a:cs typeface="Arial"/>
              </a:rPr>
              <a:t> </a:t>
            </a:r>
            <a:r>
              <a:rPr sz="1400" b="1" spc="-7" dirty="0">
                <a:latin typeface="Arial"/>
                <a:cs typeface="Arial"/>
              </a:rPr>
              <a:t>sucres</a:t>
            </a:r>
            <a:r>
              <a:rPr sz="1400" b="1" spc="-33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(carbohydrates/</a:t>
            </a:r>
            <a:r>
              <a:rPr sz="1400" b="1" spc="-27" dirty="0">
                <a:latin typeface="Arial"/>
                <a:cs typeface="Arial"/>
              </a:rPr>
              <a:t> </a:t>
            </a:r>
            <a:r>
              <a:rPr sz="1400" b="1" spc="-7" dirty="0">
                <a:latin typeface="Arial"/>
                <a:cs typeface="Arial"/>
              </a:rPr>
              <a:t>sugars)</a:t>
            </a:r>
            <a:endParaRPr sz="1400">
              <a:latin typeface="Arial"/>
              <a:cs typeface="Arial"/>
            </a:endParaRPr>
          </a:p>
          <a:p>
            <a:pPr marL="626518" indent="-412316">
              <a:spcBef>
                <a:spcPts val="253"/>
              </a:spcBef>
              <a:buChar char="●"/>
              <a:tabLst>
                <a:tab pos="625671" algn="l"/>
                <a:tab pos="626518" algn="l"/>
              </a:tabLst>
            </a:pPr>
            <a:r>
              <a:rPr sz="1400" b="1" spc="-7" dirty="0">
                <a:latin typeface="Arial"/>
                <a:cs typeface="Arial"/>
              </a:rPr>
              <a:t>sel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/</a:t>
            </a:r>
            <a:r>
              <a:rPr sz="1400" b="1" spc="-33" dirty="0">
                <a:latin typeface="Arial"/>
                <a:cs typeface="Arial"/>
              </a:rPr>
              <a:t> </a:t>
            </a:r>
            <a:r>
              <a:rPr sz="1400" b="1" spc="-7" dirty="0">
                <a:latin typeface="Arial"/>
                <a:cs typeface="Arial"/>
              </a:rPr>
              <a:t>sodium</a:t>
            </a:r>
            <a:r>
              <a:rPr sz="1400" b="1" spc="-33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(salt/sodium)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93807" y="2466304"/>
            <a:ext cx="2569633" cy="5917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88898">
              <a:spcBef>
                <a:spcPts val="133"/>
              </a:spcBef>
            </a:pPr>
            <a:r>
              <a:rPr sz="1867" b="1" spc="-27" dirty="0">
                <a:latin typeface="Trebuchet MS"/>
                <a:cs typeface="Trebuchet MS"/>
              </a:rPr>
              <a:t>Matrice </a:t>
            </a:r>
            <a:r>
              <a:rPr sz="1867" b="1" spc="-20" dirty="0">
                <a:latin typeface="Trebuchet MS"/>
                <a:cs typeface="Trebuchet MS"/>
              </a:rPr>
              <a:t>de </a:t>
            </a:r>
            <a:r>
              <a:rPr sz="1867" b="1" spc="-53" dirty="0">
                <a:latin typeface="Trebuchet MS"/>
                <a:cs typeface="Trebuchet MS"/>
              </a:rPr>
              <a:t>corrélation </a:t>
            </a:r>
            <a:r>
              <a:rPr sz="1867" b="1" spc="-47" dirty="0">
                <a:latin typeface="Trebuchet MS"/>
                <a:cs typeface="Trebuchet MS"/>
              </a:rPr>
              <a:t> </a:t>
            </a:r>
            <a:r>
              <a:rPr sz="1867" b="1" spc="-53" dirty="0">
                <a:latin typeface="Trebuchet MS"/>
                <a:cs typeface="Trebuchet MS"/>
              </a:rPr>
              <a:t>(coeﬃcient</a:t>
            </a:r>
            <a:r>
              <a:rPr sz="1867" b="1" spc="-87" dirty="0">
                <a:latin typeface="Trebuchet MS"/>
                <a:cs typeface="Trebuchet MS"/>
              </a:rPr>
              <a:t> </a:t>
            </a:r>
            <a:r>
              <a:rPr sz="1867" b="1" spc="-20" dirty="0">
                <a:latin typeface="Trebuchet MS"/>
                <a:cs typeface="Trebuchet MS"/>
              </a:rPr>
              <a:t>de</a:t>
            </a:r>
            <a:r>
              <a:rPr sz="1867" b="1" spc="-87" dirty="0">
                <a:latin typeface="Trebuchet MS"/>
                <a:cs typeface="Trebuchet MS"/>
              </a:rPr>
              <a:t> </a:t>
            </a:r>
            <a:r>
              <a:rPr sz="1867" b="1" spc="33" dirty="0">
                <a:latin typeface="Trebuchet MS"/>
                <a:cs typeface="Trebuchet MS"/>
              </a:rPr>
              <a:t>P</a:t>
            </a:r>
            <a:r>
              <a:rPr sz="1867" b="1" spc="-33" dirty="0">
                <a:latin typeface="Trebuchet MS"/>
                <a:cs typeface="Trebuchet MS"/>
              </a:rPr>
              <a:t>earson)</a:t>
            </a:r>
            <a:endParaRPr sz="1867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31832" y="82479"/>
            <a:ext cx="5894967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33" dirty="0"/>
              <a:t>Analyse</a:t>
            </a:r>
            <a:r>
              <a:rPr spc="-187" dirty="0"/>
              <a:t> </a:t>
            </a:r>
            <a:r>
              <a:rPr spc="80" dirty="0"/>
              <a:t>et</a:t>
            </a:r>
            <a:r>
              <a:rPr spc="-187" dirty="0"/>
              <a:t> </a:t>
            </a:r>
            <a:r>
              <a:rPr spc="133" dirty="0"/>
              <a:t>exploitation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78816" y="3130249"/>
            <a:ext cx="3195530" cy="48145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086" marR="6773" indent="-847" algn="ctr">
              <a:spcBef>
                <a:spcPts val="133"/>
              </a:spcBef>
            </a:pPr>
            <a:r>
              <a:rPr sz="1467" b="1" spc="-193" dirty="0">
                <a:latin typeface="Trebuchet MS"/>
                <a:cs typeface="Trebuchet MS"/>
              </a:rPr>
              <a:t>T</a:t>
            </a:r>
            <a:r>
              <a:rPr sz="1467" b="1" spc="-20" dirty="0">
                <a:latin typeface="Trebuchet MS"/>
                <a:cs typeface="Trebuchet MS"/>
              </a:rPr>
              <a:t>est</a:t>
            </a:r>
            <a:r>
              <a:rPr sz="1467" b="1" spc="-67" dirty="0">
                <a:latin typeface="Trebuchet MS"/>
                <a:cs typeface="Trebuchet MS"/>
              </a:rPr>
              <a:t> </a:t>
            </a:r>
            <a:r>
              <a:rPr sz="1467" b="1" spc="-13" dirty="0">
                <a:latin typeface="Trebuchet MS"/>
                <a:cs typeface="Trebuchet MS"/>
              </a:rPr>
              <a:t>de</a:t>
            </a:r>
            <a:r>
              <a:rPr sz="1467" b="1" spc="-67" dirty="0">
                <a:latin typeface="Trebuchet MS"/>
                <a:cs typeface="Trebuchet MS"/>
              </a:rPr>
              <a:t> </a:t>
            </a:r>
            <a:r>
              <a:rPr sz="1467" b="1" spc="-40" dirty="0" err="1">
                <a:latin typeface="Trebuchet MS"/>
                <a:cs typeface="Trebuchet MS"/>
              </a:rPr>
              <a:t>normalité</a:t>
            </a:r>
            <a:r>
              <a:rPr sz="1467" b="1" spc="-67" dirty="0">
                <a:latin typeface="Trebuchet MS"/>
                <a:cs typeface="Trebuchet MS"/>
              </a:rPr>
              <a:t> </a:t>
            </a:r>
            <a:r>
              <a:rPr sz="1467" b="1" spc="-40" dirty="0">
                <a:latin typeface="Trebuchet MS"/>
                <a:cs typeface="Trebuchet MS"/>
              </a:rPr>
              <a:t> </a:t>
            </a:r>
            <a:endParaRPr lang="fr-FR" sz="1467" b="1" spc="-40" dirty="0">
              <a:latin typeface="Trebuchet MS"/>
              <a:cs typeface="Trebuchet MS"/>
            </a:endParaRPr>
          </a:p>
          <a:p>
            <a:pPr marL="16086" marR="6773" indent="-847" algn="ctr">
              <a:spcBef>
                <a:spcPts val="133"/>
              </a:spcBef>
            </a:pPr>
            <a:r>
              <a:rPr sz="1467" b="1" spc="-33" dirty="0">
                <a:latin typeface="Trebuchet MS"/>
                <a:cs typeface="Trebuchet MS"/>
              </a:rPr>
              <a:t>(</a:t>
            </a:r>
            <a:r>
              <a:rPr sz="1467" b="1" spc="-93" dirty="0">
                <a:latin typeface="Trebuchet MS"/>
                <a:cs typeface="Trebuchet MS"/>
              </a:rPr>
              <a:t>K</a:t>
            </a:r>
            <a:r>
              <a:rPr sz="1467" b="1" spc="13" dirty="0">
                <a:latin typeface="Trebuchet MS"/>
                <a:cs typeface="Trebuchet MS"/>
              </a:rPr>
              <a:t>o</a:t>
            </a:r>
            <a:r>
              <a:rPr lang="fr-FR" sz="1467" b="1" spc="13" dirty="0">
                <a:latin typeface="Trebuchet MS"/>
                <a:cs typeface="Trebuchet MS"/>
              </a:rPr>
              <a:t>l</a:t>
            </a:r>
            <a:r>
              <a:rPr sz="1467" b="1" spc="13" dirty="0" err="1">
                <a:latin typeface="Trebuchet MS"/>
                <a:cs typeface="Trebuchet MS"/>
              </a:rPr>
              <a:t>mogorov</a:t>
            </a:r>
            <a:r>
              <a:rPr sz="1467" b="1" spc="-7" dirty="0" err="1">
                <a:latin typeface="Trebuchet MS"/>
                <a:cs typeface="Trebuchet MS"/>
              </a:rPr>
              <a:t>-Smir</a:t>
            </a:r>
            <a:r>
              <a:rPr lang="fr-FR" sz="1467" b="1" spc="-7" dirty="0">
                <a:latin typeface="Trebuchet MS"/>
                <a:cs typeface="Trebuchet MS"/>
              </a:rPr>
              <a:t>n</a:t>
            </a:r>
            <a:r>
              <a:rPr sz="1467" b="1" spc="-40" dirty="0" err="1">
                <a:latin typeface="Trebuchet MS"/>
                <a:cs typeface="Trebuchet MS"/>
              </a:rPr>
              <a:t>ov</a:t>
            </a:r>
            <a:r>
              <a:rPr sz="1467" b="1" spc="-40" dirty="0">
                <a:latin typeface="Trebuchet MS"/>
                <a:cs typeface="Trebuchet MS"/>
              </a:rPr>
              <a:t>)</a:t>
            </a:r>
            <a:endParaRPr sz="1467" dirty="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5209" y="1563517"/>
            <a:ext cx="5436951" cy="38278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72607" y="473512"/>
            <a:ext cx="6580767" cy="48908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33" dirty="0"/>
              <a:t>Analyse</a:t>
            </a:r>
            <a:r>
              <a:rPr spc="-187" dirty="0"/>
              <a:t> </a:t>
            </a:r>
            <a:r>
              <a:rPr spc="80" dirty="0"/>
              <a:t>et</a:t>
            </a:r>
            <a:r>
              <a:rPr spc="-187" dirty="0"/>
              <a:t> </a:t>
            </a:r>
            <a:r>
              <a:rPr spc="133" dirty="0"/>
              <a:t>exploitation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01CC8-2A79-4901-9D1D-2C76DFBA6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fr-FR" dirty="0"/>
              <a:t>TEST de CHI2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06F23D1-F7A9-4F85-BDF4-DF660C893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998" y="2249487"/>
            <a:ext cx="4176059" cy="354965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2076D34-1D93-824B-0218-57E5FC7C3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727" y="2249487"/>
            <a:ext cx="4710683" cy="3541714"/>
          </a:xfrm>
        </p:spPr>
        <p:txBody>
          <a:bodyPr>
            <a:normAutofit fontScale="77500" lnSpcReduction="20000"/>
          </a:bodyPr>
          <a:lstStyle/>
          <a:p>
            <a:r>
              <a:rPr lang="fr-FR" dirty="0"/>
              <a:t>Statistique du chi2 : 24121.0213933612 </a:t>
            </a:r>
          </a:p>
          <a:p>
            <a:r>
              <a:rPr lang="fr-FR" dirty="0"/>
              <a:t>Elle indique la mesure de l'écart entre les observations réelles et les valeurs attendues selon l'hypothèse nulle. Une valeur plus élevée indique un écart plus important.</a:t>
            </a:r>
          </a:p>
          <a:p>
            <a:r>
              <a:rPr lang="fr-FR" dirty="0"/>
              <a:t>Valeur-P : Une valeur-P de 0.0 indique une très forte significativité statistique, ce qui signifie que les résultats observés sont très peu probables sous l'hypothèse nulle.</a:t>
            </a:r>
          </a:p>
          <a:p>
            <a:r>
              <a:rPr lang="fr-FR" dirty="0"/>
              <a:t>On rejette l’hypothèse d’</a:t>
            </a:r>
            <a:r>
              <a:rPr lang="fr-FR" dirty="0" err="1"/>
              <a:t>independance</a:t>
            </a:r>
            <a:r>
              <a:rPr lang="fr-FR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416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9" y="6305398"/>
            <a:ext cx="12192000" cy="552873"/>
            <a:chOff x="-74" y="4729048"/>
            <a:chExt cx="9144000" cy="4146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32724" y="4729048"/>
              <a:ext cx="575976" cy="3249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729050"/>
              <a:ext cx="324949" cy="32494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09612" y="-101003"/>
            <a:ext cx="8098372" cy="1337247"/>
          </a:xfrm>
          <a:prstGeom prst="rect">
            <a:avLst/>
          </a:prstGeom>
        </p:spPr>
        <p:txBody>
          <a:bodyPr vert="horz" wrap="square" lIns="0" tIns="2370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87"/>
              </a:spcBef>
            </a:pPr>
            <a:r>
              <a:rPr lang="fr-FR" sz="4267" dirty="0"/>
              <a:t>Analyse en Composantes Principales </a:t>
            </a:r>
            <a:endParaRPr sz="4267" dirty="0"/>
          </a:p>
        </p:txBody>
      </p:sp>
      <p:sp>
        <p:nvSpPr>
          <p:cNvPr id="6" name="object 6"/>
          <p:cNvSpPr txBox="1"/>
          <p:nvPr/>
        </p:nvSpPr>
        <p:spPr>
          <a:xfrm>
            <a:off x="1251837" y="1236244"/>
            <a:ext cx="7109460" cy="667704"/>
          </a:xfrm>
          <a:prstGeom prst="rect">
            <a:avLst/>
          </a:prstGeom>
        </p:spPr>
        <p:txBody>
          <a:bodyPr vert="horz" wrap="square" lIns="0" tIns="97367" rIns="0" bIns="0" rtlCol="0">
            <a:spAutoFit/>
          </a:bodyPr>
          <a:lstStyle/>
          <a:p>
            <a:pPr marL="16933">
              <a:spcBef>
                <a:spcPts val="767"/>
              </a:spcBef>
            </a:pPr>
            <a:r>
              <a:rPr sz="1600" spc="-7" dirty="0">
                <a:solidFill>
                  <a:srgbClr val="685D46"/>
                </a:solidFill>
                <a:latin typeface="Georgia"/>
                <a:cs typeface="Georgia"/>
              </a:rPr>
              <a:t>Peut-on</a:t>
            </a:r>
            <a:r>
              <a:rPr sz="1600" spc="-27" dirty="0">
                <a:solidFill>
                  <a:srgbClr val="685D46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685D46"/>
                </a:solidFill>
                <a:latin typeface="Georgia"/>
                <a:cs typeface="Georgia"/>
              </a:rPr>
              <a:t>réduire</a:t>
            </a:r>
            <a:r>
              <a:rPr sz="1600" spc="-20" dirty="0">
                <a:solidFill>
                  <a:srgbClr val="685D46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685D46"/>
                </a:solidFill>
                <a:latin typeface="Georgia"/>
                <a:cs typeface="Georgia"/>
              </a:rPr>
              <a:t>notre</a:t>
            </a:r>
            <a:r>
              <a:rPr sz="1600" spc="-27" dirty="0">
                <a:solidFill>
                  <a:srgbClr val="685D46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685D46"/>
                </a:solidFill>
                <a:latin typeface="Georgia"/>
                <a:cs typeface="Georgia"/>
              </a:rPr>
              <a:t>nombre</a:t>
            </a:r>
            <a:r>
              <a:rPr sz="1600" spc="-20" dirty="0">
                <a:solidFill>
                  <a:srgbClr val="685D46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685D46"/>
                </a:solidFill>
                <a:latin typeface="Georgia"/>
                <a:cs typeface="Georgia"/>
              </a:rPr>
              <a:t>de</a:t>
            </a:r>
            <a:r>
              <a:rPr sz="1600" spc="-20" dirty="0">
                <a:solidFill>
                  <a:srgbClr val="685D46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685D46"/>
                </a:solidFill>
                <a:latin typeface="Georgia"/>
                <a:cs typeface="Georgia"/>
              </a:rPr>
              <a:t>variables?</a:t>
            </a:r>
            <a:endParaRPr sz="1600" dirty="0">
              <a:latin typeface="Georgia"/>
              <a:cs typeface="Georgia"/>
            </a:endParaRPr>
          </a:p>
          <a:p>
            <a:pPr marL="16933">
              <a:spcBef>
                <a:spcPts val="633"/>
              </a:spcBef>
            </a:pPr>
            <a:r>
              <a:rPr sz="1600" spc="-7" dirty="0">
                <a:solidFill>
                  <a:srgbClr val="685D46"/>
                </a:solidFill>
                <a:latin typeface="Georgia"/>
                <a:cs typeface="Georgia"/>
              </a:rPr>
              <a:t>Si</a:t>
            </a:r>
            <a:r>
              <a:rPr sz="1600" spc="-13" dirty="0">
                <a:solidFill>
                  <a:srgbClr val="685D46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685D46"/>
                </a:solidFill>
                <a:latin typeface="Georgia"/>
                <a:cs typeface="Georgia"/>
              </a:rPr>
              <a:t>oui,</a:t>
            </a:r>
            <a:r>
              <a:rPr sz="1600" spc="-13" dirty="0">
                <a:solidFill>
                  <a:srgbClr val="685D46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685D46"/>
                </a:solidFill>
                <a:latin typeface="Georgia"/>
                <a:cs typeface="Georgia"/>
              </a:rPr>
              <a:t>combien de</a:t>
            </a:r>
            <a:r>
              <a:rPr sz="1600" spc="-13" dirty="0">
                <a:solidFill>
                  <a:srgbClr val="685D46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685D46"/>
                </a:solidFill>
                <a:latin typeface="Georgia"/>
                <a:cs typeface="Georgia"/>
              </a:rPr>
              <a:t>variables sont</a:t>
            </a:r>
            <a:r>
              <a:rPr sz="1600" spc="-13" dirty="0">
                <a:solidFill>
                  <a:srgbClr val="685D46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685D46"/>
                </a:solidFill>
                <a:latin typeface="Georgia"/>
                <a:cs typeface="Georgia"/>
              </a:rPr>
              <a:t>nécessaires</a:t>
            </a:r>
            <a:r>
              <a:rPr sz="1600" spc="-13" dirty="0">
                <a:solidFill>
                  <a:srgbClr val="685D46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685D46"/>
                </a:solidFill>
                <a:latin typeface="Georgia"/>
                <a:cs typeface="Georgia"/>
              </a:rPr>
              <a:t>pour décrire</a:t>
            </a:r>
            <a:r>
              <a:rPr sz="1600" spc="-13" dirty="0">
                <a:solidFill>
                  <a:srgbClr val="685D46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685D46"/>
                </a:solidFill>
                <a:latin typeface="Georgia"/>
                <a:cs typeface="Georgia"/>
              </a:rPr>
              <a:t>notre</a:t>
            </a:r>
            <a:r>
              <a:rPr sz="1600" spc="-13" dirty="0">
                <a:solidFill>
                  <a:srgbClr val="685D46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685D46"/>
                </a:solidFill>
                <a:latin typeface="Georgia"/>
                <a:cs typeface="Georgia"/>
              </a:rPr>
              <a:t>jeu de</a:t>
            </a:r>
            <a:r>
              <a:rPr sz="1600" spc="-13" dirty="0">
                <a:solidFill>
                  <a:srgbClr val="685D46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685D46"/>
                </a:solidFill>
                <a:latin typeface="Georgia"/>
                <a:cs typeface="Georgia"/>
              </a:rPr>
              <a:t>donnée?</a:t>
            </a:r>
            <a:endParaRPr sz="1600" dirty="0">
              <a:latin typeface="Georgia"/>
              <a:cs typeface="Georgi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2319" y="2293581"/>
            <a:ext cx="4364655" cy="29840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34405" y="5349480"/>
            <a:ext cx="4327313" cy="5917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867" spc="-7" dirty="0">
                <a:solidFill>
                  <a:srgbClr val="685D46"/>
                </a:solidFill>
                <a:latin typeface="Georgia"/>
                <a:cs typeface="Georgia"/>
              </a:rPr>
              <a:t>Réduction possible </a:t>
            </a:r>
            <a:r>
              <a:rPr sz="1867" dirty="0">
                <a:solidFill>
                  <a:srgbClr val="685D46"/>
                </a:solidFill>
                <a:latin typeface="Georgia"/>
                <a:cs typeface="Georgia"/>
              </a:rPr>
              <a:t>à 4 </a:t>
            </a:r>
            <a:r>
              <a:rPr sz="1867" spc="-7" dirty="0">
                <a:solidFill>
                  <a:srgbClr val="685D46"/>
                </a:solidFill>
                <a:latin typeface="Georgia"/>
                <a:cs typeface="Georgia"/>
              </a:rPr>
              <a:t>composantes avec </a:t>
            </a:r>
            <a:r>
              <a:rPr sz="1867" spc="-433" dirty="0">
                <a:solidFill>
                  <a:srgbClr val="685D46"/>
                </a:solidFill>
                <a:latin typeface="Georgia"/>
                <a:cs typeface="Georgia"/>
              </a:rPr>
              <a:t> </a:t>
            </a:r>
            <a:r>
              <a:rPr sz="1867" spc="-7" dirty="0">
                <a:solidFill>
                  <a:srgbClr val="685D46"/>
                </a:solidFill>
                <a:latin typeface="Georgia"/>
                <a:cs typeface="Georgia"/>
              </a:rPr>
              <a:t>près</a:t>
            </a:r>
            <a:r>
              <a:rPr sz="1867" spc="-13" dirty="0">
                <a:solidFill>
                  <a:srgbClr val="685D46"/>
                </a:solidFill>
                <a:latin typeface="Georgia"/>
                <a:cs typeface="Georgia"/>
              </a:rPr>
              <a:t> </a:t>
            </a:r>
            <a:r>
              <a:rPr sz="1867" spc="-7" dirty="0">
                <a:solidFill>
                  <a:srgbClr val="685D46"/>
                </a:solidFill>
                <a:latin typeface="Georgia"/>
                <a:cs typeface="Georgia"/>
              </a:rPr>
              <a:t>de 90%</a:t>
            </a:r>
            <a:r>
              <a:rPr sz="1867" spc="-13" dirty="0">
                <a:solidFill>
                  <a:srgbClr val="685D46"/>
                </a:solidFill>
                <a:latin typeface="Georgia"/>
                <a:cs typeface="Georgia"/>
              </a:rPr>
              <a:t> </a:t>
            </a:r>
            <a:r>
              <a:rPr sz="1867" spc="-7" dirty="0">
                <a:solidFill>
                  <a:srgbClr val="685D46"/>
                </a:solidFill>
                <a:latin typeface="Georgia"/>
                <a:cs typeface="Georgia"/>
              </a:rPr>
              <a:t>des données.</a:t>
            </a:r>
            <a:endParaRPr sz="1867" dirty="0">
              <a:latin typeface="Georgia"/>
              <a:cs typeface="Georgi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84791" y="2188136"/>
            <a:ext cx="5953013" cy="30894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5240" y="334847"/>
            <a:ext cx="5879040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33" dirty="0"/>
              <a:t>Analyse</a:t>
            </a:r>
            <a:r>
              <a:rPr spc="-187" dirty="0"/>
              <a:t> </a:t>
            </a:r>
            <a:r>
              <a:rPr spc="80" dirty="0"/>
              <a:t>et</a:t>
            </a:r>
            <a:r>
              <a:rPr spc="-187" dirty="0"/>
              <a:t> </a:t>
            </a:r>
            <a:r>
              <a:rPr spc="133" dirty="0"/>
              <a:t>exploitation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57749" y="1160599"/>
            <a:ext cx="79248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spc="-193" dirty="0">
                <a:latin typeface="Trebuchet MS"/>
                <a:cs typeface="Trebuchet MS"/>
              </a:rPr>
              <a:t>T</a:t>
            </a:r>
            <a:r>
              <a:rPr sz="1467" b="1" spc="-20" dirty="0">
                <a:latin typeface="Trebuchet MS"/>
                <a:cs typeface="Trebuchet MS"/>
              </a:rPr>
              <a:t>est</a:t>
            </a:r>
            <a:r>
              <a:rPr sz="1467" b="1" spc="-67" dirty="0">
                <a:latin typeface="Trebuchet MS"/>
                <a:cs typeface="Trebuchet MS"/>
              </a:rPr>
              <a:t> </a:t>
            </a:r>
            <a:r>
              <a:rPr sz="1467" b="1" spc="20" dirty="0">
                <a:latin typeface="Trebuchet MS"/>
                <a:cs typeface="Trebuchet MS"/>
              </a:rPr>
              <a:t>A</a:t>
            </a:r>
            <a:r>
              <a:rPr sz="1467" b="1" spc="80" dirty="0">
                <a:latin typeface="Trebuchet MS"/>
                <a:cs typeface="Trebuchet MS"/>
              </a:rPr>
              <a:t>CP</a:t>
            </a:r>
            <a:endParaRPr sz="1467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9864" y="1160599"/>
            <a:ext cx="4752880" cy="407579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289687" y="1655350"/>
            <a:ext cx="5180263" cy="13123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086" marR="6773" algn="just">
              <a:spcBef>
                <a:spcPts val="133"/>
              </a:spcBef>
            </a:pPr>
            <a:r>
              <a:rPr lang="fr-FR" sz="1400" spc="-7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fr-FR" sz="1400" spc="-75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fr-FR" sz="1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15" dirty="0">
                <a:latin typeface="Arial" panose="020B0604020202020204" pitchFamily="34" charset="0"/>
                <a:cs typeface="Arial" panose="020B0604020202020204" pitchFamily="34" charset="0"/>
              </a:rPr>
              <a:t>représent</a:t>
            </a:r>
            <a:r>
              <a:rPr lang="fr-FR" sz="14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35" dirty="0">
                <a:latin typeface="Arial" panose="020B0604020202020204" pitchFamily="34" charset="0"/>
                <a:cs typeface="Arial" panose="020B0604020202020204" pitchFamily="34" charset="0"/>
              </a:rPr>
              <a:t>les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40" dirty="0">
                <a:latin typeface="Arial" panose="020B0604020202020204" pitchFamily="34" charset="0"/>
                <a:cs typeface="Arial" panose="020B0604020202020204" pitchFamily="34" charset="0"/>
              </a:rPr>
              <a:t>lipides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35" dirty="0">
                <a:latin typeface="Arial" panose="020B0604020202020204" pitchFamily="34" charset="0"/>
                <a:cs typeface="Arial" panose="020B0604020202020204" pitchFamily="34" charset="0"/>
              </a:rPr>
              <a:t>don</a:t>
            </a:r>
            <a:r>
              <a:rPr lang="fr-FR" sz="1400" spc="-2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30" dirty="0">
                <a:latin typeface="Arial" panose="020B0604020202020204" pitchFamily="34" charset="0"/>
                <a:cs typeface="Arial" panose="020B0604020202020204" pitchFamily="34" charset="0"/>
              </a:rPr>
              <a:t>l'énergie </a:t>
            </a:r>
            <a:r>
              <a:rPr lang="fr-FR" sz="1400" spc="-25" dirty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fr-FR" sz="1400" spc="-2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2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fr-FR" sz="1400" spc="-1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35" dirty="0">
                <a:latin typeface="Arial" panose="020B0604020202020204" pitchFamily="34" charset="0"/>
                <a:cs typeface="Arial" panose="020B0604020202020204" pitchFamily="34" charset="0"/>
              </a:rPr>
              <a:t>produit.</a:t>
            </a:r>
          </a:p>
          <a:p>
            <a:pPr marL="16086" marR="6773" algn="just">
              <a:spcBef>
                <a:spcPts val="133"/>
              </a:spcBef>
            </a:pPr>
            <a:r>
              <a:rPr lang="fr-FR" sz="1400" spc="-7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fr-FR" sz="1400" spc="-75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fr-FR" sz="1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15" dirty="0">
                <a:latin typeface="Arial" panose="020B0604020202020204" pitchFamily="34" charset="0"/>
                <a:cs typeface="Arial" panose="020B0604020202020204" pitchFamily="34" charset="0"/>
              </a:rPr>
              <a:t>représent</a:t>
            </a:r>
            <a:r>
              <a:rPr lang="fr-FR" sz="14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35" dirty="0">
                <a:latin typeface="Arial" panose="020B0604020202020204" pitchFamily="34" charset="0"/>
                <a:cs typeface="Arial" panose="020B0604020202020204" pitchFamily="34" charset="0"/>
              </a:rPr>
              <a:t>les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30" dirty="0">
                <a:latin typeface="Arial" panose="020B0604020202020204" pitchFamily="34" charset="0"/>
                <a:cs typeface="Arial" panose="020B0604020202020204" pitchFamily="34" charset="0"/>
              </a:rPr>
              <a:t>produit</a:t>
            </a:r>
            <a:r>
              <a:rPr lang="fr-FR" sz="1400" spc="-2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25" dirty="0">
                <a:latin typeface="Arial" panose="020B0604020202020204" pitchFamily="34" charset="0"/>
                <a:cs typeface="Arial" panose="020B0604020202020204" pitchFamily="34" charset="0"/>
              </a:rPr>
              <a:t>légèremen</a:t>
            </a:r>
            <a:r>
              <a:rPr lang="fr-FR" sz="1400" spc="-1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30" dirty="0">
                <a:latin typeface="Arial" panose="020B0604020202020204" pitchFamily="34" charset="0"/>
                <a:cs typeface="Arial" panose="020B0604020202020204" pitchFamily="34" charset="0"/>
              </a:rPr>
              <a:t>salés </a:t>
            </a:r>
            <a:r>
              <a:rPr lang="fr-FR" sz="1400" spc="-2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400" spc="-1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30" dirty="0">
                <a:latin typeface="Arial" panose="020B0604020202020204" pitchFamily="34" charset="0"/>
                <a:cs typeface="Arial" panose="020B0604020202020204" pitchFamily="34" charset="0"/>
              </a:rPr>
              <a:t>riches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400" spc="-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30" dirty="0">
                <a:latin typeface="Arial" panose="020B0604020202020204" pitchFamily="34" charset="0"/>
                <a:cs typeface="Arial" panose="020B0604020202020204" pitchFamily="34" charset="0"/>
              </a:rPr>
              <a:t>protéines.</a:t>
            </a:r>
          </a:p>
          <a:p>
            <a:pPr marL="16086" marR="6773" algn="just">
              <a:spcBef>
                <a:spcPts val="133"/>
              </a:spcBef>
            </a:pPr>
            <a:r>
              <a:rPr lang="fr-FR" sz="1400" spc="-7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fr-FR" sz="1400" spc="-75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fr-FR" sz="1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35" dirty="0" err="1">
                <a:latin typeface="Arial" panose="020B0604020202020204" pitchFamily="34" charset="0"/>
                <a:cs typeface="Arial" panose="020B0604020202020204" pitchFamily="34" charset="0"/>
              </a:rPr>
              <a:t>qualiﬁe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35" dirty="0">
                <a:latin typeface="Arial" panose="020B0604020202020204" pitchFamily="34" charset="0"/>
                <a:cs typeface="Arial" panose="020B0604020202020204" pitchFamily="34" charset="0"/>
              </a:rPr>
              <a:t>les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30" dirty="0">
                <a:latin typeface="Arial" panose="020B0604020202020204" pitchFamily="34" charset="0"/>
                <a:cs typeface="Arial" panose="020B0604020202020204" pitchFamily="34" charset="0"/>
              </a:rPr>
              <a:t>produit</a:t>
            </a:r>
            <a:r>
              <a:rPr lang="fr-FR" sz="1400" spc="-2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30" dirty="0">
                <a:latin typeface="Arial" panose="020B0604020202020204" pitchFamily="34" charset="0"/>
                <a:cs typeface="Arial" panose="020B0604020202020204" pitchFamily="34" charset="0"/>
              </a:rPr>
              <a:t>riches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400" spc="-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25" dirty="0">
                <a:latin typeface="Arial" panose="020B0604020202020204" pitchFamily="34" charset="0"/>
                <a:cs typeface="Arial" panose="020B0604020202020204" pitchFamily="34" charset="0"/>
              </a:rPr>
              <a:t>protéines </a:t>
            </a:r>
            <a:r>
              <a:rPr lang="fr-FR" sz="1400" spc="-40" dirty="0">
                <a:latin typeface="Arial" panose="020B0604020202020204" pitchFamily="34" charset="0"/>
                <a:cs typeface="Arial" panose="020B0604020202020204" pitchFamily="34" charset="0"/>
              </a:rPr>
              <a:t>végétales.</a:t>
            </a:r>
          </a:p>
          <a:p>
            <a:pPr marL="16086" marR="6773" algn="just">
              <a:spcBef>
                <a:spcPts val="133"/>
              </a:spcBef>
            </a:pPr>
            <a:r>
              <a:rPr lang="fr-FR" sz="1400" spc="-7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fr-FR" sz="1400" spc="-75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fr-FR" sz="1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25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fr-FR" sz="1400" spc="-3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30" dirty="0">
                <a:latin typeface="Arial" panose="020B0604020202020204" pitchFamily="34" charset="0"/>
                <a:cs typeface="Arial" panose="020B0604020202020204" pitchFamily="34" charset="0"/>
              </a:rPr>
              <a:t>richesse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fr-FR" sz="1400" spc="-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45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fr-FR" sz="1400" spc="-2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3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fr-FR" sz="1400" spc="-2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fr-FR" sz="1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spc="-40" dirty="0">
                <a:latin typeface="Arial" panose="020B0604020202020204" pitchFamily="34" charset="0"/>
                <a:cs typeface="Arial" panose="020B0604020202020204" pitchFamily="34" charset="0"/>
              </a:rPr>
              <a:t>produits.</a:t>
            </a:r>
          </a:p>
          <a:p>
            <a:pPr marL="16086" marR="6773" algn="ctr">
              <a:spcBef>
                <a:spcPts val="133"/>
              </a:spcBef>
            </a:pPr>
            <a:endParaRPr lang="fr-FR" sz="1200" b="1" spc="-40" dirty="0">
              <a:latin typeface="Trebuchet MS"/>
              <a:cs typeface="Trebuchet MS"/>
            </a:endParaRPr>
          </a:p>
          <a:p>
            <a:pPr marL="16086" marR="6773" algn="ctr">
              <a:spcBef>
                <a:spcPts val="133"/>
              </a:spcBef>
            </a:pP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1658" y="445132"/>
            <a:ext cx="6914142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33" dirty="0"/>
              <a:t>Analyse</a:t>
            </a:r>
            <a:r>
              <a:rPr spc="-187" dirty="0"/>
              <a:t> </a:t>
            </a:r>
            <a:r>
              <a:rPr spc="80" dirty="0"/>
              <a:t>et</a:t>
            </a:r>
            <a:r>
              <a:rPr spc="-187" dirty="0"/>
              <a:t> </a:t>
            </a:r>
            <a:r>
              <a:rPr spc="133" dirty="0"/>
              <a:t>exploitation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19567" y="1141017"/>
            <a:ext cx="135890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247" dirty="0">
                <a:latin typeface="Trebuchet MS"/>
                <a:cs typeface="Trebuchet MS"/>
              </a:rPr>
              <a:t>T</a:t>
            </a:r>
            <a:r>
              <a:rPr sz="1867" b="1" spc="-27" dirty="0">
                <a:latin typeface="Trebuchet MS"/>
                <a:cs typeface="Trebuchet MS"/>
              </a:rPr>
              <a:t>est</a:t>
            </a:r>
            <a:r>
              <a:rPr sz="1867" b="1" spc="-87" dirty="0">
                <a:latin typeface="Trebuchet MS"/>
                <a:cs typeface="Trebuchet MS"/>
              </a:rPr>
              <a:t> </a:t>
            </a:r>
            <a:r>
              <a:rPr sz="1867" b="1" spc="100" dirty="0">
                <a:latin typeface="Trebuchet MS"/>
                <a:cs typeface="Trebuchet MS"/>
              </a:rPr>
              <a:t>AN</a:t>
            </a:r>
            <a:r>
              <a:rPr sz="1867" b="1" spc="73" dirty="0">
                <a:latin typeface="Trebuchet MS"/>
                <a:cs typeface="Trebuchet MS"/>
              </a:rPr>
              <a:t>O</a:t>
            </a:r>
            <a:r>
              <a:rPr sz="1867" b="1" spc="20" dirty="0">
                <a:latin typeface="Trebuchet MS"/>
                <a:cs typeface="Trebuchet MS"/>
              </a:rPr>
              <a:t>V</a:t>
            </a:r>
            <a:r>
              <a:rPr sz="1867" b="1" spc="93" dirty="0">
                <a:latin typeface="Trebuchet MS"/>
                <a:cs typeface="Trebuchet MS"/>
              </a:rPr>
              <a:t>A</a:t>
            </a:r>
            <a:endParaRPr sz="1867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2765" y="4884515"/>
            <a:ext cx="10596285" cy="118440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47971" algn="ctr">
              <a:spcBef>
                <a:spcPts val="133"/>
              </a:spcBef>
            </a:pPr>
            <a:r>
              <a:rPr sz="1467" b="1" spc="-47" dirty="0">
                <a:latin typeface="Trebuchet MS"/>
                <a:cs typeface="Trebuchet MS"/>
              </a:rPr>
              <a:t>Objectif</a:t>
            </a:r>
            <a:r>
              <a:rPr sz="1467" b="1" spc="-60" dirty="0">
                <a:latin typeface="Trebuchet MS"/>
                <a:cs typeface="Trebuchet MS"/>
              </a:rPr>
              <a:t> </a:t>
            </a:r>
            <a:r>
              <a:rPr sz="1467" b="1" spc="-173" dirty="0">
                <a:latin typeface="Trebuchet MS"/>
                <a:cs typeface="Trebuchet MS"/>
              </a:rPr>
              <a:t>:</a:t>
            </a:r>
            <a:r>
              <a:rPr sz="1467" b="1" spc="-60" dirty="0">
                <a:latin typeface="Trebuchet MS"/>
                <a:cs typeface="Trebuchet MS"/>
              </a:rPr>
              <a:t> </a:t>
            </a:r>
            <a:r>
              <a:rPr sz="1467" b="1" spc="-47" dirty="0">
                <a:latin typeface="Trebuchet MS"/>
                <a:cs typeface="Trebuchet MS"/>
              </a:rPr>
              <a:t>le</a:t>
            </a:r>
            <a:r>
              <a:rPr sz="1467" b="1" spc="-60" dirty="0">
                <a:latin typeface="Trebuchet MS"/>
                <a:cs typeface="Trebuchet MS"/>
              </a:rPr>
              <a:t> </a:t>
            </a:r>
            <a:r>
              <a:rPr sz="1467" b="1" spc="-40" dirty="0">
                <a:latin typeface="Trebuchet MS"/>
                <a:cs typeface="Trebuchet MS"/>
              </a:rPr>
              <a:t>test</a:t>
            </a:r>
            <a:r>
              <a:rPr sz="1467" b="1" spc="-60" dirty="0">
                <a:latin typeface="Trebuchet MS"/>
                <a:cs typeface="Trebuchet MS"/>
              </a:rPr>
              <a:t> </a:t>
            </a:r>
            <a:r>
              <a:rPr sz="1467" b="1" dirty="0">
                <a:latin typeface="Trebuchet MS"/>
                <a:cs typeface="Trebuchet MS"/>
              </a:rPr>
              <a:t>d’ANOVA</a:t>
            </a:r>
            <a:r>
              <a:rPr sz="1467" b="1" spc="-60" dirty="0">
                <a:latin typeface="Trebuchet MS"/>
                <a:cs typeface="Trebuchet MS"/>
              </a:rPr>
              <a:t> </a:t>
            </a:r>
            <a:r>
              <a:rPr sz="1467" b="1" spc="-47" dirty="0">
                <a:latin typeface="Trebuchet MS"/>
                <a:cs typeface="Trebuchet MS"/>
              </a:rPr>
              <a:t>permet</a:t>
            </a:r>
            <a:r>
              <a:rPr sz="1467" b="1" spc="-60" dirty="0">
                <a:latin typeface="Trebuchet MS"/>
                <a:cs typeface="Trebuchet MS"/>
              </a:rPr>
              <a:t> </a:t>
            </a:r>
            <a:r>
              <a:rPr sz="1467" b="1" spc="-53" dirty="0">
                <a:latin typeface="Trebuchet MS"/>
                <a:cs typeface="Trebuchet MS"/>
              </a:rPr>
              <a:t>d’étudier </a:t>
            </a:r>
            <a:r>
              <a:rPr sz="1467" b="1" spc="-47" dirty="0">
                <a:latin typeface="Trebuchet MS"/>
                <a:cs typeface="Trebuchet MS"/>
              </a:rPr>
              <a:t>le</a:t>
            </a:r>
            <a:r>
              <a:rPr sz="1467" b="1" spc="-60" dirty="0">
                <a:latin typeface="Trebuchet MS"/>
                <a:cs typeface="Trebuchet MS"/>
              </a:rPr>
              <a:t> </a:t>
            </a:r>
            <a:r>
              <a:rPr sz="1467" b="1" spc="-33" dirty="0">
                <a:latin typeface="Trebuchet MS"/>
                <a:cs typeface="Trebuchet MS"/>
              </a:rPr>
              <a:t>comportement</a:t>
            </a:r>
            <a:r>
              <a:rPr sz="1467" b="1" spc="-60" dirty="0">
                <a:latin typeface="Trebuchet MS"/>
                <a:cs typeface="Trebuchet MS"/>
              </a:rPr>
              <a:t> </a:t>
            </a:r>
            <a:r>
              <a:rPr sz="1467" b="1" spc="-47" dirty="0">
                <a:latin typeface="Trebuchet MS"/>
                <a:cs typeface="Trebuchet MS"/>
              </a:rPr>
              <a:t>d’une</a:t>
            </a:r>
            <a:r>
              <a:rPr sz="1467" b="1" spc="-60" dirty="0">
                <a:latin typeface="Trebuchet MS"/>
                <a:cs typeface="Trebuchet MS"/>
              </a:rPr>
              <a:t> </a:t>
            </a:r>
            <a:r>
              <a:rPr sz="1467" b="1" spc="-33" dirty="0">
                <a:latin typeface="Trebuchet MS"/>
                <a:cs typeface="Trebuchet MS"/>
              </a:rPr>
              <a:t>variable</a:t>
            </a:r>
            <a:r>
              <a:rPr sz="1467" b="1" spc="-60" dirty="0">
                <a:latin typeface="Trebuchet MS"/>
                <a:cs typeface="Trebuchet MS"/>
              </a:rPr>
              <a:t> </a:t>
            </a:r>
            <a:r>
              <a:rPr sz="1467" b="1" spc="-40" dirty="0">
                <a:latin typeface="Trebuchet MS"/>
                <a:cs typeface="Trebuchet MS"/>
              </a:rPr>
              <a:t>quantitative</a:t>
            </a:r>
            <a:r>
              <a:rPr sz="1467" b="1" spc="-60" dirty="0">
                <a:latin typeface="Trebuchet MS"/>
                <a:cs typeface="Trebuchet MS"/>
              </a:rPr>
              <a:t> </a:t>
            </a:r>
            <a:r>
              <a:rPr sz="1467" b="1" spc="13" dirty="0">
                <a:latin typeface="Trebuchet MS"/>
                <a:cs typeface="Trebuchet MS"/>
              </a:rPr>
              <a:t>à</a:t>
            </a:r>
            <a:r>
              <a:rPr sz="1467" b="1" spc="-53" dirty="0">
                <a:latin typeface="Trebuchet MS"/>
                <a:cs typeface="Trebuchet MS"/>
              </a:rPr>
              <a:t> </a:t>
            </a:r>
            <a:r>
              <a:rPr sz="1467" b="1" spc="-27" dirty="0">
                <a:latin typeface="Trebuchet MS"/>
                <a:cs typeface="Trebuchet MS"/>
              </a:rPr>
              <a:t>une</a:t>
            </a:r>
            <a:r>
              <a:rPr sz="1467" b="1" spc="-60" dirty="0">
                <a:latin typeface="Trebuchet MS"/>
                <a:cs typeface="Trebuchet MS"/>
              </a:rPr>
              <a:t> </a:t>
            </a:r>
            <a:r>
              <a:rPr sz="1467" b="1" spc="-7" dirty="0">
                <a:latin typeface="Trebuchet MS"/>
                <a:cs typeface="Trebuchet MS"/>
              </a:rPr>
              <a:t>ou</a:t>
            </a:r>
            <a:r>
              <a:rPr sz="1467" b="1" spc="-60" dirty="0">
                <a:latin typeface="Trebuchet MS"/>
                <a:cs typeface="Trebuchet MS"/>
              </a:rPr>
              <a:t> </a:t>
            </a:r>
            <a:r>
              <a:rPr sz="1467" b="1" spc="-20" dirty="0">
                <a:latin typeface="Trebuchet MS"/>
                <a:cs typeface="Trebuchet MS"/>
              </a:rPr>
              <a:t>plusieurs</a:t>
            </a:r>
            <a:r>
              <a:rPr sz="1467" b="1" spc="-60" dirty="0">
                <a:latin typeface="Trebuchet MS"/>
                <a:cs typeface="Trebuchet MS"/>
              </a:rPr>
              <a:t> </a:t>
            </a:r>
            <a:r>
              <a:rPr sz="1467" b="1" spc="-20" dirty="0">
                <a:latin typeface="Trebuchet MS"/>
                <a:cs typeface="Trebuchet MS"/>
              </a:rPr>
              <a:t>variables</a:t>
            </a:r>
            <a:r>
              <a:rPr sz="1467" b="1" spc="-60" dirty="0">
                <a:latin typeface="Trebuchet MS"/>
                <a:cs typeface="Trebuchet MS"/>
              </a:rPr>
              <a:t> </a:t>
            </a:r>
            <a:r>
              <a:rPr sz="1467" b="1" spc="-40" dirty="0">
                <a:latin typeface="Trebuchet MS"/>
                <a:cs typeface="Trebuchet MS"/>
              </a:rPr>
              <a:t>qualitatives.</a:t>
            </a:r>
            <a:endParaRPr sz="1467" b="1" dirty="0">
              <a:latin typeface="Trebuchet MS"/>
              <a:cs typeface="Trebuchet MS"/>
            </a:endParaRPr>
          </a:p>
          <a:p>
            <a:pPr algn="ctr">
              <a:spcBef>
                <a:spcPts val="53"/>
              </a:spcBef>
            </a:pPr>
            <a:r>
              <a:rPr lang="fr-FR" sz="1467" b="1" dirty="0">
                <a:latin typeface="Trebuchet MS"/>
                <a:cs typeface="Trebuchet MS"/>
              </a:rPr>
              <a:t>      Ces résultats indiquent que pour toutes les variables, à l'exception de cholesterol_100g, vitamin-a_100g </a:t>
            </a:r>
          </a:p>
          <a:p>
            <a:pPr algn="ctr">
              <a:spcBef>
                <a:spcPts val="53"/>
              </a:spcBef>
            </a:pPr>
            <a:r>
              <a:rPr lang="fr-FR" sz="1467" b="1" dirty="0">
                <a:latin typeface="Trebuchet MS"/>
                <a:cs typeface="Trebuchet MS"/>
              </a:rPr>
              <a:t>            et vitamin-c_100g, il existe des différences significatives entre les groupes. </a:t>
            </a:r>
          </a:p>
          <a:p>
            <a:pPr algn="ctr">
              <a:spcBef>
                <a:spcPts val="53"/>
              </a:spcBef>
            </a:pPr>
            <a:r>
              <a:rPr lang="fr-FR" sz="1467" b="1" dirty="0">
                <a:latin typeface="Trebuchet MS"/>
                <a:cs typeface="Trebuchet MS"/>
              </a:rPr>
              <a:t>         La valeur-P de 0.0 pour ces variables indique qu'il y a une forte association entre les variables et la variable cible.</a:t>
            </a:r>
            <a:endParaRPr sz="1467" b="1" dirty="0">
              <a:latin typeface="Trebuchet MS"/>
              <a:cs typeface="Trebuchet MS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7C4E871-2D5A-47CF-8144-8A58C82C6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032" y="1488062"/>
            <a:ext cx="4005832" cy="312326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2C0E3F5-57DD-403A-8310-B97DA73CB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658" y="1488062"/>
            <a:ext cx="4334480" cy="31532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8302" y="902608"/>
            <a:ext cx="5837607" cy="510086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87941" y="1391408"/>
            <a:ext cx="3631353" cy="2585719"/>
            <a:chOff x="1147100" y="643849"/>
            <a:chExt cx="2723515" cy="1939289"/>
          </a:xfrm>
        </p:grpSpPr>
        <p:sp>
          <p:nvSpPr>
            <p:cNvPr id="4" name="object 4"/>
            <p:cNvSpPr/>
            <p:nvPr/>
          </p:nvSpPr>
          <p:spPr>
            <a:xfrm>
              <a:off x="1154500" y="1494422"/>
              <a:ext cx="2708910" cy="1089025"/>
            </a:xfrm>
            <a:custGeom>
              <a:avLst/>
              <a:gdLst/>
              <a:ahLst/>
              <a:cxnLst/>
              <a:rect l="l" t="t" r="r" b="b"/>
              <a:pathLst>
                <a:path w="2708910" h="1089025">
                  <a:moveTo>
                    <a:pt x="1354349" y="1088399"/>
                  </a:moveTo>
                  <a:lnTo>
                    <a:pt x="0" y="924193"/>
                  </a:lnTo>
                  <a:lnTo>
                    <a:pt x="0" y="0"/>
                  </a:lnTo>
                  <a:lnTo>
                    <a:pt x="1354349" y="164206"/>
                  </a:lnTo>
                  <a:lnTo>
                    <a:pt x="2708699" y="0"/>
                  </a:lnTo>
                  <a:lnTo>
                    <a:pt x="2708699" y="924193"/>
                  </a:lnTo>
                  <a:lnTo>
                    <a:pt x="1354349" y="1088399"/>
                  </a:lnTo>
                  <a:close/>
                </a:path>
              </a:pathLst>
            </a:custGeom>
            <a:solidFill>
              <a:srgbClr val="E6913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1147100" y="643849"/>
              <a:ext cx="2723515" cy="987425"/>
            </a:xfrm>
            <a:custGeom>
              <a:avLst/>
              <a:gdLst/>
              <a:ahLst/>
              <a:cxnLst/>
              <a:rect l="l" t="t" r="r" b="b"/>
              <a:pathLst>
                <a:path w="2723515" h="987425">
                  <a:moveTo>
                    <a:pt x="1361737" y="986949"/>
                  </a:moveTo>
                  <a:lnTo>
                    <a:pt x="0" y="789559"/>
                  </a:lnTo>
                  <a:lnTo>
                    <a:pt x="0" y="0"/>
                  </a:lnTo>
                  <a:lnTo>
                    <a:pt x="2723474" y="0"/>
                  </a:lnTo>
                  <a:lnTo>
                    <a:pt x="2723474" y="789559"/>
                  </a:lnTo>
                  <a:lnTo>
                    <a:pt x="1361737" y="986949"/>
                  </a:lnTo>
                  <a:close/>
                </a:path>
              </a:pathLst>
            </a:custGeom>
            <a:solidFill>
              <a:srgbClr val="B3A77D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19976" y="-54129"/>
            <a:ext cx="7132171" cy="956737"/>
          </a:xfrm>
          <a:prstGeom prst="rect">
            <a:avLst/>
          </a:prstGeom>
        </p:spPr>
        <p:txBody>
          <a:bodyPr vert="horz" wrap="square" lIns="0" tIns="2971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2340"/>
              </a:spcBef>
            </a:pPr>
            <a:r>
              <a:rPr lang="fr-FR" sz="4267" dirty="0"/>
              <a:t>Faisabilité de l’application </a:t>
            </a:r>
            <a:endParaRPr sz="4267" dirty="0"/>
          </a:p>
        </p:txBody>
      </p:sp>
      <p:sp>
        <p:nvSpPr>
          <p:cNvPr id="7" name="object 7"/>
          <p:cNvSpPr txBox="1"/>
          <p:nvPr/>
        </p:nvSpPr>
        <p:spPr>
          <a:xfrm>
            <a:off x="1661334" y="5455885"/>
            <a:ext cx="345355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lang="fr-FR" sz="1867" spc="-7" dirty="0">
                <a:solidFill>
                  <a:srgbClr val="685D46"/>
                </a:solidFill>
                <a:latin typeface="Georgia"/>
                <a:cs typeface="Georgia"/>
              </a:rPr>
              <a:t>L’application est opérationnelle </a:t>
            </a:r>
            <a:endParaRPr sz="1867" dirty="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6305401"/>
            <a:ext cx="433265" cy="43326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487941" y="3627572"/>
            <a:ext cx="3611880" cy="1767840"/>
          </a:xfrm>
          <a:custGeom>
            <a:avLst/>
            <a:gdLst/>
            <a:ahLst/>
            <a:cxnLst/>
            <a:rect l="l" t="t" r="r" b="b"/>
            <a:pathLst>
              <a:path w="2708910" h="1325879">
                <a:moveTo>
                  <a:pt x="1354349" y="1325399"/>
                </a:moveTo>
                <a:lnTo>
                  <a:pt x="0" y="1125436"/>
                </a:lnTo>
                <a:lnTo>
                  <a:pt x="0" y="0"/>
                </a:lnTo>
                <a:lnTo>
                  <a:pt x="1354349" y="199962"/>
                </a:lnTo>
                <a:lnTo>
                  <a:pt x="2708699" y="0"/>
                </a:lnTo>
                <a:lnTo>
                  <a:pt x="2708699" y="1125436"/>
                </a:lnTo>
                <a:lnTo>
                  <a:pt x="1354349" y="1325399"/>
                </a:lnTo>
                <a:close/>
              </a:path>
            </a:pathLst>
          </a:custGeom>
          <a:solidFill>
            <a:srgbClr val="B45F06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 txBox="1"/>
          <p:nvPr/>
        </p:nvSpPr>
        <p:spPr>
          <a:xfrm>
            <a:off x="1732900" y="2472806"/>
            <a:ext cx="3259667" cy="24330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endParaRPr lang="fr-FR" sz="1600" spc="-7" dirty="0">
              <a:solidFill>
                <a:srgbClr val="FFFFFF"/>
              </a:solidFill>
              <a:latin typeface="Georgia"/>
              <a:cs typeface="Georgia"/>
            </a:endParaRPr>
          </a:p>
          <a:p>
            <a:pPr marL="16933">
              <a:spcBef>
                <a:spcPts val="133"/>
              </a:spcBef>
            </a:pP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Si</a:t>
            </a:r>
            <a:r>
              <a:rPr sz="16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on</a:t>
            </a:r>
            <a:r>
              <a:rPr sz="16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se</a:t>
            </a:r>
            <a:r>
              <a:rPr sz="16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cantonne</a:t>
            </a:r>
            <a:r>
              <a:rPr sz="16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aux</a:t>
            </a:r>
            <a:r>
              <a:rPr sz="16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scores</a:t>
            </a:r>
            <a:r>
              <a:rPr sz="16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Nova</a:t>
            </a:r>
            <a:endParaRPr sz="1600" dirty="0">
              <a:latin typeface="Georgia"/>
              <a:cs typeface="Georgia"/>
            </a:endParaRPr>
          </a:p>
          <a:p>
            <a:pPr marL="16933" marR="287013"/>
            <a:r>
              <a:rPr sz="1600" dirty="0">
                <a:solidFill>
                  <a:srgbClr val="FFFFFF"/>
                </a:solidFill>
                <a:latin typeface="Georgia"/>
                <a:cs typeface="Georgia"/>
              </a:rPr>
              <a:t>= 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1,2,3 et Nutriscore =A,B,C il ne </a:t>
            </a:r>
            <a:r>
              <a:rPr sz="1600" spc="-367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nous</a:t>
            </a:r>
            <a:r>
              <a:rPr sz="1600" spc="-27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reste</a:t>
            </a:r>
            <a:r>
              <a:rPr sz="16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que</a:t>
            </a:r>
            <a:r>
              <a:rPr sz="16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45000</a:t>
            </a:r>
            <a:r>
              <a:rPr sz="16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produits.</a:t>
            </a:r>
            <a:endParaRPr sz="16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733" dirty="0">
              <a:latin typeface="Georgia"/>
              <a:cs typeface="Georgia"/>
            </a:endParaRPr>
          </a:p>
          <a:p>
            <a:pPr marL="155781" marR="6773">
              <a:spcBef>
                <a:spcPts val="1280"/>
              </a:spcBef>
            </a:pP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Les catégories de produits utilisés </a:t>
            </a:r>
            <a:r>
              <a:rPr sz="16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dans </a:t>
            </a:r>
            <a:r>
              <a:rPr lang="fr-FR" sz="1600" spc="-7" dirty="0">
                <a:solidFill>
                  <a:srgbClr val="FFFFFF"/>
                </a:solidFill>
                <a:latin typeface="Georgia"/>
                <a:cs typeface="Georgia"/>
              </a:rPr>
              <a:t>une bonne alimentation </a:t>
            </a:r>
            <a:r>
              <a:rPr sz="1600" spc="-7" dirty="0" err="1">
                <a:solidFill>
                  <a:srgbClr val="FFFFFF"/>
                </a:solidFill>
                <a:latin typeface="Georgia"/>
                <a:cs typeface="Georgia"/>
              </a:rPr>
              <a:t>sont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spc="-367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disponibles et comportent </a:t>
            </a:r>
            <a:r>
              <a:rPr sz="16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suffisamment</a:t>
            </a:r>
            <a:r>
              <a:rPr sz="16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de</a:t>
            </a:r>
            <a:r>
              <a:rPr sz="1600" spc="-13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“bon</a:t>
            </a:r>
            <a:r>
              <a:rPr sz="16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600" spc="-7" dirty="0">
                <a:solidFill>
                  <a:srgbClr val="FFFFFF"/>
                </a:solidFill>
                <a:latin typeface="Georgia"/>
                <a:cs typeface="Georgia"/>
              </a:rPr>
              <a:t>scores”</a:t>
            </a:r>
            <a:endParaRPr sz="1600" dirty="0">
              <a:latin typeface="Georgia"/>
              <a:cs typeface="Georg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43632" y="6305398"/>
            <a:ext cx="767968" cy="43326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E51D230-BCF8-408F-AD87-D1CF92CFEC4F}"/>
              </a:ext>
            </a:extLst>
          </p:cNvPr>
          <p:cNvSpPr/>
          <p:nvPr/>
        </p:nvSpPr>
        <p:spPr>
          <a:xfrm>
            <a:off x="1478335" y="1575040"/>
            <a:ext cx="37243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pc="-7" dirty="0">
                <a:solidFill>
                  <a:srgbClr val="FFFFFF"/>
                </a:solidFill>
                <a:latin typeface="Georgia"/>
                <a:cs typeface="Georgia"/>
              </a:rPr>
              <a:t>Toutes les données </a:t>
            </a:r>
            <a:r>
              <a:rPr lang="fr-FR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fr-FR" spc="-7" dirty="0">
                <a:solidFill>
                  <a:srgbClr val="FFFFFF"/>
                </a:solidFill>
                <a:latin typeface="Georgia"/>
                <a:cs typeface="Georgia"/>
              </a:rPr>
              <a:t>nutritionnelles sont plus ou </a:t>
            </a:r>
            <a:r>
              <a:rPr lang="fr-FR" spc="-367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fr-FR" spc="-7" dirty="0">
                <a:solidFill>
                  <a:srgbClr val="FFFFFF"/>
                </a:solidFill>
                <a:latin typeface="Georgia"/>
                <a:cs typeface="Georgia"/>
              </a:rPr>
              <a:t>moins dépendantes </a:t>
            </a:r>
            <a:r>
              <a:rPr lang="fr-FR" dirty="0">
                <a:solidFill>
                  <a:srgbClr val="FFFFFF"/>
                </a:solidFill>
                <a:latin typeface="Georgia"/>
                <a:cs typeface="Georgia"/>
              </a:rPr>
              <a:t> (matrice</a:t>
            </a:r>
            <a:r>
              <a:rPr lang="fr-FR" spc="-27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fr-FR" spc="-7" dirty="0">
                <a:solidFill>
                  <a:srgbClr val="FFFFFF"/>
                </a:solidFill>
                <a:latin typeface="Georgia"/>
                <a:cs typeface="Georgia"/>
              </a:rPr>
              <a:t>de</a:t>
            </a:r>
            <a:r>
              <a:rPr lang="fr-FR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fr-FR" spc="-7" dirty="0">
                <a:solidFill>
                  <a:srgbClr val="FFFFFF"/>
                </a:solidFill>
                <a:latin typeface="Georgia"/>
                <a:cs typeface="Georgia"/>
              </a:rPr>
              <a:t>corrélation)</a:t>
            </a:r>
            <a:endParaRPr lang="fr-F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8309" y="542357"/>
            <a:ext cx="3018416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33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4148" y="1373170"/>
            <a:ext cx="10231706" cy="254907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4999"/>
              </a:lnSpc>
              <a:spcBef>
                <a:spcPts val="133"/>
              </a:spcBef>
            </a:pPr>
            <a:r>
              <a:rPr sz="2400" spc="-7" dirty="0">
                <a:latin typeface="Arial MT"/>
                <a:cs typeface="Arial MT"/>
              </a:rPr>
              <a:t>Après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spc="-7" dirty="0">
                <a:latin typeface="Arial MT"/>
                <a:cs typeface="Arial MT"/>
              </a:rPr>
              <a:t>le</a:t>
            </a:r>
            <a:r>
              <a:rPr sz="2400" spc="93" dirty="0">
                <a:latin typeface="Arial MT"/>
                <a:cs typeface="Arial MT"/>
              </a:rPr>
              <a:t> </a:t>
            </a:r>
            <a:r>
              <a:rPr sz="2400" spc="-7" dirty="0">
                <a:latin typeface="Arial MT"/>
                <a:cs typeface="Arial MT"/>
              </a:rPr>
              <a:t>nettoyage</a:t>
            </a:r>
            <a:r>
              <a:rPr sz="2400" spc="93" dirty="0">
                <a:latin typeface="Arial MT"/>
                <a:cs typeface="Arial MT"/>
              </a:rPr>
              <a:t> </a:t>
            </a:r>
            <a:r>
              <a:rPr sz="2400" spc="-7" dirty="0">
                <a:latin typeface="Arial MT"/>
                <a:cs typeface="Arial MT"/>
              </a:rPr>
              <a:t>des</a:t>
            </a:r>
            <a:r>
              <a:rPr sz="2400" spc="87" dirty="0">
                <a:latin typeface="Arial MT"/>
                <a:cs typeface="Arial MT"/>
              </a:rPr>
              <a:t> </a:t>
            </a:r>
            <a:r>
              <a:rPr sz="2400" spc="-7" dirty="0">
                <a:latin typeface="Arial MT"/>
                <a:cs typeface="Arial MT"/>
              </a:rPr>
              <a:t>données</a:t>
            </a:r>
            <a:r>
              <a:rPr sz="2400" spc="93" dirty="0">
                <a:latin typeface="Arial MT"/>
                <a:cs typeface="Arial MT"/>
              </a:rPr>
              <a:t> </a:t>
            </a:r>
            <a:r>
              <a:rPr sz="2400" spc="-7" dirty="0">
                <a:latin typeface="Arial MT"/>
                <a:cs typeface="Arial MT"/>
              </a:rPr>
              <a:t>et</a:t>
            </a:r>
            <a:r>
              <a:rPr sz="2400" spc="93" dirty="0">
                <a:latin typeface="Arial MT"/>
                <a:cs typeface="Arial MT"/>
              </a:rPr>
              <a:t> </a:t>
            </a:r>
            <a:r>
              <a:rPr sz="2400" spc="-7" dirty="0">
                <a:latin typeface="Arial MT"/>
                <a:cs typeface="Arial MT"/>
              </a:rPr>
              <a:t>l’exploration,</a:t>
            </a:r>
            <a:r>
              <a:rPr sz="2400" spc="9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certaines</a:t>
            </a:r>
            <a:r>
              <a:rPr sz="2400" spc="8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variables</a:t>
            </a:r>
            <a:r>
              <a:rPr sz="2400" spc="9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sont</a:t>
            </a:r>
            <a:r>
              <a:rPr sz="2400" spc="93" dirty="0">
                <a:latin typeface="Arial MT"/>
                <a:cs typeface="Arial MT"/>
              </a:rPr>
              <a:t> </a:t>
            </a:r>
            <a:r>
              <a:rPr sz="2400" spc="-7" dirty="0">
                <a:latin typeface="Arial MT"/>
                <a:cs typeface="Arial MT"/>
              </a:rPr>
              <a:t>nécessaires </a:t>
            </a:r>
            <a:r>
              <a:rPr sz="2400" spc="-645" dirty="0">
                <a:latin typeface="Arial MT"/>
                <a:cs typeface="Arial MT"/>
              </a:rPr>
              <a:t> </a:t>
            </a:r>
            <a:r>
              <a:rPr sz="2400" spc="-7" dirty="0">
                <a:latin typeface="Arial MT"/>
                <a:cs typeface="Arial MT"/>
              </a:rPr>
              <a:t>pour</a:t>
            </a:r>
            <a:r>
              <a:rPr sz="2400" spc="-13" dirty="0">
                <a:latin typeface="Arial MT"/>
                <a:cs typeface="Arial MT"/>
              </a:rPr>
              <a:t> </a:t>
            </a:r>
            <a:r>
              <a:rPr sz="2400" spc="-7" dirty="0">
                <a:latin typeface="Arial MT"/>
                <a:cs typeface="Arial MT"/>
              </a:rPr>
              <a:t>prédire un Nutri-Score automatique </a:t>
            </a:r>
            <a:r>
              <a:rPr sz="2400" dirty="0">
                <a:latin typeface="Arial MT"/>
                <a:cs typeface="Arial MT"/>
              </a:rPr>
              <a:t>:</a:t>
            </a:r>
          </a:p>
          <a:p>
            <a:pPr marL="124457" indent="-108371">
              <a:spcBef>
                <a:spcPts val="433"/>
              </a:spcBef>
              <a:buClr>
                <a:srgbClr val="000000"/>
              </a:buClr>
              <a:buSzPct val="94444"/>
              <a:buFont typeface="Arial MT"/>
              <a:buChar char="•"/>
              <a:tabLst>
                <a:tab pos="125304" algn="l"/>
              </a:tabLst>
            </a:pPr>
            <a:r>
              <a:rPr sz="2400" b="1" spc="-27" dirty="0">
                <a:solidFill>
                  <a:srgbClr val="37761C"/>
                </a:solidFill>
                <a:latin typeface="Arial"/>
                <a:cs typeface="Arial"/>
              </a:rPr>
              <a:t>L’Energy</a:t>
            </a:r>
            <a:endParaRPr sz="2400" dirty="0">
              <a:latin typeface="Arial"/>
              <a:cs typeface="Arial"/>
            </a:endParaRPr>
          </a:p>
          <a:p>
            <a:pPr marL="124457" indent="-108371">
              <a:spcBef>
                <a:spcPts val="427"/>
              </a:spcBef>
              <a:buClr>
                <a:srgbClr val="000000"/>
              </a:buClr>
              <a:buSzPct val="94444"/>
              <a:buFont typeface="Arial MT"/>
              <a:buChar char="•"/>
              <a:tabLst>
                <a:tab pos="125304" algn="l"/>
              </a:tabLst>
            </a:pPr>
            <a:r>
              <a:rPr sz="2400" b="1" spc="-7" dirty="0">
                <a:solidFill>
                  <a:srgbClr val="6AA84F"/>
                </a:solidFill>
                <a:latin typeface="Arial"/>
                <a:cs typeface="Arial"/>
              </a:rPr>
              <a:t>Le</a:t>
            </a:r>
            <a:r>
              <a:rPr sz="2400" b="1" spc="-133" dirty="0">
                <a:solidFill>
                  <a:srgbClr val="6AA84F"/>
                </a:solidFill>
                <a:latin typeface="Arial"/>
                <a:cs typeface="Arial"/>
              </a:rPr>
              <a:t> </a:t>
            </a:r>
            <a:r>
              <a:rPr sz="2400" b="1" spc="-7" dirty="0">
                <a:solidFill>
                  <a:srgbClr val="6AA84F"/>
                </a:solidFill>
                <a:latin typeface="Arial"/>
                <a:cs typeface="Arial"/>
              </a:rPr>
              <a:t>Sucre</a:t>
            </a:r>
            <a:endParaRPr sz="2400" dirty="0">
              <a:latin typeface="Arial"/>
              <a:cs typeface="Arial"/>
            </a:endParaRPr>
          </a:p>
          <a:p>
            <a:pPr marL="124457" indent="-108371">
              <a:spcBef>
                <a:spcPts val="433"/>
              </a:spcBef>
              <a:buClr>
                <a:srgbClr val="000000"/>
              </a:buClr>
              <a:buSzPct val="94444"/>
              <a:buFont typeface="Arial MT"/>
              <a:buChar char="•"/>
              <a:tabLst>
                <a:tab pos="125304" algn="l"/>
              </a:tabLst>
            </a:pPr>
            <a:r>
              <a:rPr sz="2400" b="1" spc="-7" dirty="0">
                <a:solidFill>
                  <a:srgbClr val="F1C131"/>
                </a:solidFill>
                <a:latin typeface="Arial"/>
                <a:cs typeface="Arial"/>
              </a:rPr>
              <a:t>La</a:t>
            </a:r>
            <a:r>
              <a:rPr sz="2400" b="1" spc="-67" dirty="0">
                <a:solidFill>
                  <a:srgbClr val="F1C131"/>
                </a:solidFill>
                <a:latin typeface="Arial"/>
                <a:cs typeface="Arial"/>
              </a:rPr>
              <a:t> </a:t>
            </a:r>
            <a:r>
              <a:rPr sz="2400" b="1" spc="-7" dirty="0">
                <a:solidFill>
                  <a:srgbClr val="F1C131"/>
                </a:solidFill>
                <a:latin typeface="Arial"/>
                <a:cs typeface="Arial"/>
              </a:rPr>
              <a:t>Graisse</a:t>
            </a:r>
            <a:endParaRPr sz="2400" dirty="0">
              <a:latin typeface="Arial"/>
              <a:cs typeface="Arial"/>
            </a:endParaRPr>
          </a:p>
          <a:p>
            <a:pPr marL="124457" indent="-108371">
              <a:spcBef>
                <a:spcPts val="433"/>
              </a:spcBef>
              <a:buClr>
                <a:srgbClr val="000000"/>
              </a:buClr>
              <a:buSzPct val="94444"/>
              <a:buFont typeface="Arial MT"/>
              <a:buChar char="•"/>
              <a:tabLst>
                <a:tab pos="125304" algn="l"/>
              </a:tabLst>
            </a:pPr>
            <a:r>
              <a:rPr sz="2400" b="1" spc="-7" dirty="0">
                <a:solidFill>
                  <a:srgbClr val="FF9900"/>
                </a:solidFill>
                <a:latin typeface="Arial"/>
                <a:cs typeface="Arial"/>
              </a:rPr>
              <a:t>La</a:t>
            </a:r>
            <a:r>
              <a:rPr sz="2400" b="1" spc="-47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2400" b="1" spc="-7" dirty="0">
                <a:solidFill>
                  <a:srgbClr val="FF9900"/>
                </a:solidFill>
                <a:latin typeface="Arial"/>
                <a:cs typeface="Arial"/>
              </a:rPr>
              <a:t>Graisse</a:t>
            </a:r>
            <a:r>
              <a:rPr sz="2400" b="1" spc="-47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2400" b="1" spc="-7" dirty="0">
                <a:solidFill>
                  <a:srgbClr val="FF9900"/>
                </a:solidFill>
                <a:latin typeface="Arial"/>
                <a:cs typeface="Arial"/>
              </a:rPr>
              <a:t>Saturée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0001" y="4403825"/>
            <a:ext cx="5444980" cy="164095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82901" y="1214629"/>
            <a:ext cx="4728633" cy="320297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b="1" spc="-7" dirty="0">
                <a:solidFill>
                  <a:srgbClr val="685D46"/>
                </a:solidFill>
                <a:latin typeface="Tahoma"/>
                <a:cs typeface="Tahoma"/>
              </a:rPr>
              <a:t>Analyse</a:t>
            </a:r>
            <a:r>
              <a:rPr sz="2133" b="1" spc="-120" dirty="0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sz="2133" b="1" spc="7" dirty="0">
                <a:solidFill>
                  <a:srgbClr val="685D46"/>
                </a:solidFill>
                <a:latin typeface="Tahoma"/>
                <a:cs typeface="Tahoma"/>
              </a:rPr>
              <a:t>critique</a:t>
            </a:r>
            <a:r>
              <a:rPr sz="2133" b="1" spc="-107" dirty="0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sz="2133" b="1" spc="-167" dirty="0">
                <a:solidFill>
                  <a:srgbClr val="685D46"/>
                </a:solidFill>
                <a:latin typeface="Tahoma"/>
                <a:cs typeface="Tahoma"/>
              </a:rPr>
              <a:t>:</a:t>
            </a:r>
            <a:endParaRPr sz="2133">
              <a:latin typeface="Tahoma"/>
              <a:cs typeface="Tahoma"/>
            </a:endParaRPr>
          </a:p>
          <a:p>
            <a:pPr marL="16933" marR="6773">
              <a:spcBef>
                <a:spcPts val="2247"/>
              </a:spcBef>
            </a:pPr>
            <a:r>
              <a:rPr sz="1867" spc="-20" dirty="0">
                <a:solidFill>
                  <a:srgbClr val="685D46"/>
                </a:solidFill>
                <a:latin typeface="Lucida Sans Unicode"/>
                <a:cs typeface="Lucida Sans Unicode"/>
              </a:rPr>
              <a:t>L</a:t>
            </a:r>
            <a:r>
              <a:rPr sz="1867" spc="-13" dirty="0">
                <a:solidFill>
                  <a:srgbClr val="685D46"/>
                </a:solidFill>
                <a:latin typeface="Lucida Sans Unicode"/>
                <a:cs typeface="Lucida Sans Unicode"/>
              </a:rPr>
              <a:t>a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33" dirty="0">
                <a:solidFill>
                  <a:srgbClr val="685D46"/>
                </a:solidFill>
                <a:latin typeface="Lucida Sans Unicode"/>
                <a:cs typeface="Lucida Sans Unicode"/>
              </a:rPr>
              <a:t>bas</a:t>
            </a:r>
            <a:r>
              <a:rPr sz="1867" spc="-20" dirty="0">
                <a:solidFill>
                  <a:srgbClr val="685D46"/>
                </a:solidFill>
                <a:latin typeface="Lucida Sans Unicode"/>
                <a:cs typeface="Lucida Sans Unicode"/>
              </a:rPr>
              <a:t>e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20" dirty="0">
                <a:solidFill>
                  <a:srgbClr val="685D46"/>
                </a:solidFill>
                <a:latin typeface="Lucida Sans Unicode"/>
                <a:cs typeface="Lucida Sans Unicode"/>
              </a:rPr>
              <a:t>d</a:t>
            </a:r>
            <a:r>
              <a:rPr sz="1867" spc="-13" dirty="0">
                <a:solidFill>
                  <a:srgbClr val="685D46"/>
                </a:solidFill>
                <a:latin typeface="Lucida Sans Unicode"/>
                <a:cs typeface="Lucida Sans Unicode"/>
              </a:rPr>
              <a:t>e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donnée</a:t>
            </a:r>
            <a:r>
              <a:rPr sz="1867" spc="-20" dirty="0">
                <a:solidFill>
                  <a:srgbClr val="685D46"/>
                </a:solidFill>
                <a:latin typeface="Lucida Sans Unicode"/>
                <a:cs typeface="Lucida Sans Unicode"/>
              </a:rPr>
              <a:t>s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40" dirty="0">
                <a:solidFill>
                  <a:srgbClr val="685D46"/>
                </a:solidFill>
                <a:latin typeface="Lucida Sans Unicode"/>
                <a:cs typeface="Lucida Sans Unicode"/>
              </a:rPr>
              <a:t>es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t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alimenté</a:t>
            </a:r>
            <a:r>
              <a:rPr sz="1867" spc="-20" dirty="0">
                <a:solidFill>
                  <a:srgbClr val="685D46"/>
                </a:solidFill>
                <a:latin typeface="Lucida Sans Unicode"/>
                <a:cs typeface="Lucida Sans Unicode"/>
              </a:rPr>
              <a:t>e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20" dirty="0">
                <a:solidFill>
                  <a:srgbClr val="685D46"/>
                </a:solidFill>
                <a:latin typeface="Lucida Sans Unicode"/>
                <a:cs typeface="Lucida Sans Unicode"/>
              </a:rPr>
              <a:t>pa</a:t>
            </a:r>
            <a:r>
              <a:rPr sz="1867" spc="-13" dirty="0">
                <a:solidFill>
                  <a:srgbClr val="685D46"/>
                </a:solidFill>
                <a:latin typeface="Lucida Sans Unicode"/>
                <a:cs typeface="Lucida Sans Unicode"/>
              </a:rPr>
              <a:t>r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33" dirty="0">
                <a:solidFill>
                  <a:srgbClr val="685D46"/>
                </a:solidFill>
                <a:latin typeface="Lucida Sans Unicode"/>
                <a:cs typeface="Lucida Sans Unicode"/>
              </a:rPr>
              <a:t>le  </a:t>
            </a:r>
            <a:r>
              <a:rPr sz="1867" spc="-53" dirty="0">
                <a:solidFill>
                  <a:srgbClr val="685D46"/>
                </a:solidFill>
                <a:latin typeface="Lucida Sans Unicode"/>
                <a:cs typeface="Lucida Sans Unicode"/>
              </a:rPr>
              <a:t>public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40" dirty="0">
                <a:solidFill>
                  <a:srgbClr val="685D46"/>
                </a:solidFill>
                <a:latin typeface="Lucida Sans Unicode"/>
                <a:cs typeface="Lucida Sans Unicode"/>
              </a:rPr>
              <a:t>donc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47" dirty="0">
                <a:solidFill>
                  <a:srgbClr val="685D46"/>
                </a:solidFill>
                <a:latin typeface="Lucida Sans Unicode"/>
                <a:cs typeface="Lucida Sans Unicode"/>
              </a:rPr>
              <a:t>les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20" dirty="0">
                <a:solidFill>
                  <a:srgbClr val="685D46"/>
                </a:solidFill>
                <a:latin typeface="Lucida Sans Unicode"/>
                <a:cs typeface="Lucida Sans Unicode"/>
              </a:rPr>
              <a:t>erreurs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20" dirty="0">
                <a:solidFill>
                  <a:srgbClr val="685D46"/>
                </a:solidFill>
                <a:latin typeface="Lucida Sans Unicode"/>
                <a:cs typeface="Lucida Sans Unicode"/>
              </a:rPr>
              <a:t>de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40" dirty="0">
                <a:solidFill>
                  <a:srgbClr val="685D46"/>
                </a:solidFill>
                <a:latin typeface="Lucida Sans Unicode"/>
                <a:cs typeface="Lucida Sans Unicode"/>
              </a:rPr>
              <a:t>renseignements </a:t>
            </a:r>
            <a:r>
              <a:rPr sz="1867" spc="-57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47" dirty="0">
                <a:solidFill>
                  <a:srgbClr val="685D46"/>
                </a:solidFill>
                <a:latin typeface="Lucida Sans Unicode"/>
                <a:cs typeface="Lucida Sans Unicode"/>
              </a:rPr>
              <a:t>son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t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33" dirty="0">
                <a:solidFill>
                  <a:srgbClr val="685D46"/>
                </a:solidFill>
                <a:latin typeface="Lucida Sans Unicode"/>
                <a:cs typeface="Lucida Sans Unicode"/>
              </a:rPr>
              <a:t>courantes.</a:t>
            </a:r>
            <a:endParaRPr sz="1867">
              <a:latin typeface="Lucida Sans Unicode"/>
              <a:cs typeface="Lucida Sans Unicode"/>
            </a:endParaRPr>
          </a:p>
          <a:p>
            <a:pPr marL="16933" marR="168481">
              <a:spcBef>
                <a:spcPts val="2240"/>
              </a:spcBef>
            </a:pPr>
            <a:r>
              <a:rPr sz="1867" spc="-13" dirty="0">
                <a:solidFill>
                  <a:srgbClr val="685D46"/>
                </a:solidFill>
                <a:latin typeface="Lucida Sans Unicode"/>
                <a:cs typeface="Lucida Sans Unicode"/>
              </a:rPr>
              <a:t>L</a:t>
            </a:r>
            <a:r>
              <a:rPr sz="1867" spc="-7" dirty="0">
                <a:solidFill>
                  <a:srgbClr val="685D46"/>
                </a:solidFill>
                <a:latin typeface="Lucida Sans Unicode"/>
                <a:cs typeface="Lucida Sans Unicode"/>
              </a:rPr>
              <a:t>e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20" dirty="0">
                <a:solidFill>
                  <a:srgbClr val="685D46"/>
                </a:solidFill>
                <a:latin typeface="Lucida Sans Unicode"/>
                <a:cs typeface="Lucida Sans Unicode"/>
              </a:rPr>
              <a:t>nombr</a:t>
            </a:r>
            <a:r>
              <a:rPr sz="1867" spc="-13" dirty="0">
                <a:solidFill>
                  <a:srgbClr val="685D46"/>
                </a:solidFill>
                <a:latin typeface="Lucida Sans Unicode"/>
                <a:cs typeface="Lucida Sans Unicode"/>
              </a:rPr>
              <a:t>e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20" dirty="0">
                <a:solidFill>
                  <a:srgbClr val="685D46"/>
                </a:solidFill>
                <a:latin typeface="Lucida Sans Unicode"/>
                <a:cs typeface="Lucida Sans Unicode"/>
              </a:rPr>
              <a:t>d</a:t>
            </a:r>
            <a:r>
              <a:rPr sz="1867" spc="-13" dirty="0">
                <a:solidFill>
                  <a:srgbClr val="685D46"/>
                </a:solidFill>
                <a:latin typeface="Lucida Sans Unicode"/>
                <a:cs typeface="Lucida Sans Unicode"/>
              </a:rPr>
              <a:t>e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40" dirty="0">
                <a:solidFill>
                  <a:srgbClr val="685D46"/>
                </a:solidFill>
                <a:latin typeface="Lucida Sans Unicode"/>
                <a:cs typeface="Lucida Sans Unicode"/>
              </a:rPr>
              <a:t>produit</a:t>
            </a:r>
            <a:r>
              <a:rPr sz="1867" spc="-33" dirty="0">
                <a:solidFill>
                  <a:srgbClr val="685D46"/>
                </a:solidFill>
                <a:latin typeface="Lucida Sans Unicode"/>
                <a:cs typeface="Lucida Sans Unicode"/>
              </a:rPr>
              <a:t>s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correspondants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dirty="0">
                <a:solidFill>
                  <a:srgbClr val="685D46"/>
                </a:solidFill>
                <a:latin typeface="Lucida Sans Unicode"/>
                <a:cs typeface="Lucida Sans Unicode"/>
              </a:rPr>
              <a:t>à  </a:t>
            </a:r>
            <a:r>
              <a:rPr sz="1867" spc="-47" dirty="0">
                <a:solidFill>
                  <a:srgbClr val="685D46"/>
                </a:solidFill>
                <a:latin typeface="Lucida Sans Unicode"/>
                <a:cs typeface="Lucida Sans Unicode"/>
              </a:rPr>
              <a:t>no</a:t>
            </a:r>
            <a:r>
              <a:rPr sz="1867" spc="-33" dirty="0">
                <a:solidFill>
                  <a:srgbClr val="685D46"/>
                </a:solidFill>
                <a:latin typeface="Lucida Sans Unicode"/>
                <a:cs typeface="Lucida Sans Unicode"/>
              </a:rPr>
              <a:t>s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critères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40" dirty="0">
                <a:solidFill>
                  <a:srgbClr val="685D46"/>
                </a:solidFill>
                <a:latin typeface="Lucida Sans Unicode"/>
                <a:cs typeface="Lucida Sans Unicode"/>
              </a:rPr>
              <a:t>es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t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60" dirty="0">
                <a:solidFill>
                  <a:srgbClr val="685D46"/>
                </a:solidFill>
                <a:latin typeface="Lucida Sans Unicode"/>
                <a:cs typeface="Lucida Sans Unicode"/>
              </a:rPr>
              <a:t>faible</a:t>
            </a:r>
            <a:r>
              <a:rPr sz="1867" spc="-33" dirty="0">
                <a:solidFill>
                  <a:srgbClr val="685D46"/>
                </a:solidFill>
                <a:latin typeface="Lucida Sans Unicode"/>
                <a:cs typeface="Lucida Sans Unicode"/>
              </a:rPr>
              <a:t>.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Mai</a:t>
            </a:r>
            <a:r>
              <a:rPr sz="1867" spc="-13" dirty="0">
                <a:solidFill>
                  <a:srgbClr val="685D46"/>
                </a:solidFill>
                <a:latin typeface="Lucida Sans Unicode"/>
                <a:cs typeface="Lucida Sans Unicode"/>
              </a:rPr>
              <a:t>s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33" dirty="0">
                <a:solidFill>
                  <a:srgbClr val="685D46"/>
                </a:solidFill>
                <a:latin typeface="Lucida Sans Unicode"/>
                <a:cs typeface="Lucida Sans Unicode"/>
              </a:rPr>
              <a:t>l</a:t>
            </a:r>
            <a:r>
              <a:rPr sz="1867" spc="-40" dirty="0">
                <a:solidFill>
                  <a:srgbClr val="685D46"/>
                </a:solidFill>
                <a:latin typeface="Lucida Sans Unicode"/>
                <a:cs typeface="Lucida Sans Unicode"/>
              </a:rPr>
              <a:t>e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40" dirty="0">
                <a:solidFill>
                  <a:srgbClr val="685D46"/>
                </a:solidFill>
                <a:latin typeface="Lucida Sans Unicode"/>
                <a:cs typeface="Lucida Sans Unicode"/>
              </a:rPr>
              <a:t>nettoyage  </a:t>
            </a:r>
            <a:r>
              <a:rPr sz="1867" spc="-33" dirty="0">
                <a:solidFill>
                  <a:srgbClr val="685D46"/>
                </a:solidFill>
                <a:latin typeface="Lucida Sans Unicode"/>
                <a:cs typeface="Lucida Sans Unicode"/>
              </a:rPr>
              <a:t>étai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t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60" dirty="0">
                <a:solidFill>
                  <a:srgbClr val="685D46"/>
                </a:solidFill>
                <a:latin typeface="Lucida Sans Unicode"/>
                <a:cs typeface="Lucida Sans Unicode"/>
              </a:rPr>
              <a:t>large.</a:t>
            </a:r>
            <a:endParaRPr sz="1867">
              <a:latin typeface="Lucida Sans Unicode"/>
              <a:cs typeface="Lucida Sans Unicode"/>
            </a:endParaRPr>
          </a:p>
          <a:p>
            <a:pPr marL="16933">
              <a:spcBef>
                <a:spcPts val="2240"/>
              </a:spcBef>
            </a:pPr>
            <a:r>
              <a:rPr sz="1867" spc="-33" dirty="0">
                <a:solidFill>
                  <a:srgbClr val="685D46"/>
                </a:solidFill>
                <a:latin typeface="Lucida Sans Unicode"/>
                <a:cs typeface="Lucida Sans Unicode"/>
              </a:rPr>
              <a:t>Les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40" dirty="0">
                <a:solidFill>
                  <a:srgbClr val="685D46"/>
                </a:solidFill>
                <a:latin typeface="Lucida Sans Unicode"/>
                <a:cs typeface="Lucida Sans Unicode"/>
              </a:rPr>
              <a:t>imputations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peuvent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13" dirty="0">
                <a:solidFill>
                  <a:srgbClr val="685D46"/>
                </a:solidFill>
                <a:latin typeface="Lucida Sans Unicode"/>
                <a:cs typeface="Lucida Sans Unicode"/>
              </a:rPr>
              <a:t>être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40" dirty="0">
                <a:solidFill>
                  <a:srgbClr val="685D46"/>
                </a:solidFill>
                <a:latin typeface="Lucida Sans Unicode"/>
                <a:cs typeface="Lucida Sans Unicode"/>
              </a:rPr>
              <a:t>améliorées.</a:t>
            </a:r>
            <a:endParaRPr sz="1867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6901" y="1434946"/>
            <a:ext cx="4900505" cy="227957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b="1" spc="-13" dirty="0">
                <a:solidFill>
                  <a:srgbClr val="685D46"/>
                </a:solidFill>
                <a:latin typeface="Tahoma"/>
                <a:cs typeface="Tahoma"/>
              </a:rPr>
              <a:t>Points</a:t>
            </a:r>
            <a:r>
              <a:rPr sz="2133" b="1" spc="-93" dirty="0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sz="2133" b="1" spc="7" dirty="0">
                <a:solidFill>
                  <a:srgbClr val="685D46"/>
                </a:solidFill>
                <a:latin typeface="Tahoma"/>
                <a:cs typeface="Tahoma"/>
              </a:rPr>
              <a:t>à</a:t>
            </a:r>
            <a:r>
              <a:rPr sz="2133" b="1" spc="-87" dirty="0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sz="2133" b="1" spc="-7" dirty="0">
                <a:solidFill>
                  <a:srgbClr val="685D46"/>
                </a:solidFill>
                <a:latin typeface="Tahoma"/>
                <a:cs typeface="Tahoma"/>
              </a:rPr>
              <a:t>explorer</a:t>
            </a:r>
            <a:r>
              <a:rPr sz="2133" b="1" spc="-93" dirty="0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sz="2133" b="1" spc="-167" dirty="0">
                <a:solidFill>
                  <a:srgbClr val="685D46"/>
                </a:solidFill>
                <a:latin typeface="Tahoma"/>
                <a:cs typeface="Tahoma"/>
              </a:rPr>
              <a:t>:</a:t>
            </a:r>
            <a:endParaRPr sz="2133">
              <a:latin typeface="Tahoma"/>
              <a:cs typeface="Tahoma"/>
            </a:endParaRPr>
          </a:p>
          <a:p>
            <a:pPr marL="16933" marR="6773">
              <a:spcBef>
                <a:spcPts val="2247"/>
              </a:spcBef>
            </a:pPr>
            <a:r>
              <a:rPr sz="1867" spc="20" dirty="0">
                <a:solidFill>
                  <a:srgbClr val="685D46"/>
                </a:solidFill>
                <a:latin typeface="Lucida Sans Unicode"/>
                <a:cs typeface="Lucida Sans Unicode"/>
              </a:rPr>
              <a:t>Une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47" dirty="0">
                <a:solidFill>
                  <a:srgbClr val="685D46"/>
                </a:solidFill>
                <a:latin typeface="Lucida Sans Unicode"/>
                <a:cs typeface="Lucida Sans Unicode"/>
              </a:rPr>
              <a:t>vériﬁcation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préalable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53" dirty="0">
                <a:solidFill>
                  <a:srgbClr val="685D46"/>
                </a:solidFill>
                <a:latin typeface="Lucida Sans Unicode"/>
                <a:cs typeface="Lucida Sans Unicode"/>
              </a:rPr>
              <a:t>ains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i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73" dirty="0">
                <a:solidFill>
                  <a:srgbClr val="685D46"/>
                </a:solidFill>
                <a:latin typeface="Lucida Sans Unicode"/>
                <a:cs typeface="Lucida Sans Unicode"/>
              </a:rPr>
              <a:t>qu’un  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arrangemen</a:t>
            </a:r>
            <a:r>
              <a:rPr sz="1867" spc="-13" dirty="0">
                <a:solidFill>
                  <a:srgbClr val="685D46"/>
                </a:solidFill>
                <a:latin typeface="Lucida Sans Unicode"/>
                <a:cs typeface="Lucida Sans Unicode"/>
              </a:rPr>
              <a:t>t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40" dirty="0">
                <a:solidFill>
                  <a:srgbClr val="685D46"/>
                </a:solidFill>
                <a:latin typeface="Lucida Sans Unicode"/>
                <a:cs typeface="Lucida Sans Unicode"/>
              </a:rPr>
              <a:t>de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s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donnée</a:t>
            </a:r>
            <a:r>
              <a:rPr sz="1867" spc="-20" dirty="0">
                <a:solidFill>
                  <a:srgbClr val="685D46"/>
                </a:solidFill>
                <a:latin typeface="Lucida Sans Unicode"/>
                <a:cs typeface="Lucida Sans Unicode"/>
              </a:rPr>
              <a:t>s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33" dirty="0">
                <a:solidFill>
                  <a:srgbClr val="685D46"/>
                </a:solidFill>
                <a:latin typeface="Lucida Sans Unicode"/>
                <a:cs typeface="Lucida Sans Unicode"/>
              </a:rPr>
              <a:t>serai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t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33" dirty="0">
                <a:solidFill>
                  <a:srgbClr val="685D46"/>
                </a:solidFill>
                <a:latin typeface="Lucida Sans Unicode"/>
                <a:cs typeface="Lucida Sans Unicode"/>
              </a:rPr>
              <a:t>préférable.</a:t>
            </a:r>
            <a:endParaRPr sz="1867">
              <a:latin typeface="Lucida Sans Unicode"/>
              <a:cs typeface="Lucida Sans Unicode"/>
            </a:endParaRPr>
          </a:p>
          <a:p>
            <a:pPr marL="16933" marR="598578">
              <a:lnSpc>
                <a:spcPct val="200000"/>
              </a:lnSpc>
            </a:pPr>
            <a:r>
              <a:rPr sz="1867" spc="27" dirty="0">
                <a:solidFill>
                  <a:srgbClr val="685D46"/>
                </a:solidFill>
                <a:latin typeface="Lucida Sans Unicode"/>
                <a:cs typeface="Lucida Sans Unicode"/>
              </a:rPr>
              <a:t>Un </a:t>
            </a:r>
            <a:r>
              <a:rPr sz="1867" spc="-47" dirty="0">
                <a:solidFill>
                  <a:srgbClr val="685D46"/>
                </a:solidFill>
                <a:latin typeface="Lucida Sans Unicode"/>
                <a:cs typeface="Lucida Sans Unicode"/>
              </a:rPr>
              <a:t>algorithme </a:t>
            </a:r>
            <a:r>
              <a:rPr sz="1867" spc="-20" dirty="0">
                <a:solidFill>
                  <a:srgbClr val="685D46"/>
                </a:solidFill>
                <a:latin typeface="Lucida Sans Unicode"/>
                <a:cs typeface="Lucida Sans Unicode"/>
              </a:rPr>
              <a:t>de </a:t>
            </a:r>
            <a:r>
              <a:rPr sz="1867" spc="-47" dirty="0">
                <a:solidFill>
                  <a:srgbClr val="685D46"/>
                </a:solidFill>
                <a:latin typeface="Lucida Sans Unicode"/>
                <a:cs typeface="Lucida Sans Unicode"/>
              </a:rPr>
              <a:t>calcul 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du </a:t>
            </a:r>
            <a:r>
              <a:rPr sz="1867" spc="-47" dirty="0">
                <a:solidFill>
                  <a:srgbClr val="685D46"/>
                </a:solidFill>
                <a:latin typeface="Lucida Sans Unicode"/>
                <a:cs typeface="Lucida Sans Unicode"/>
              </a:rPr>
              <a:t>nutriscore. </a:t>
            </a:r>
            <a:r>
              <a:rPr sz="1867" spc="-57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27" dirty="0">
                <a:solidFill>
                  <a:srgbClr val="685D46"/>
                </a:solidFill>
                <a:latin typeface="Lucida Sans Unicode"/>
                <a:cs typeface="Lucida Sans Unicode"/>
              </a:rPr>
              <a:t>Un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47" dirty="0">
                <a:solidFill>
                  <a:srgbClr val="685D46"/>
                </a:solidFill>
                <a:latin typeface="Lucida Sans Unicode"/>
                <a:cs typeface="Lucida Sans Unicode"/>
              </a:rPr>
              <a:t>algorithm</a:t>
            </a:r>
            <a:r>
              <a:rPr sz="1867" spc="-40" dirty="0">
                <a:solidFill>
                  <a:srgbClr val="685D46"/>
                </a:solidFill>
                <a:latin typeface="Lucida Sans Unicode"/>
                <a:cs typeface="Lucida Sans Unicode"/>
              </a:rPr>
              <a:t>e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20" dirty="0">
                <a:solidFill>
                  <a:srgbClr val="685D46"/>
                </a:solidFill>
                <a:latin typeface="Lucida Sans Unicode"/>
                <a:cs typeface="Lucida Sans Unicode"/>
              </a:rPr>
              <a:t>d</a:t>
            </a:r>
            <a:r>
              <a:rPr sz="1867" spc="-13" dirty="0">
                <a:solidFill>
                  <a:srgbClr val="685D46"/>
                </a:solidFill>
                <a:latin typeface="Lucida Sans Unicode"/>
                <a:cs typeface="Lucida Sans Unicode"/>
              </a:rPr>
              <a:t>e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47" dirty="0">
                <a:solidFill>
                  <a:srgbClr val="685D46"/>
                </a:solidFill>
                <a:latin typeface="Lucida Sans Unicode"/>
                <a:cs typeface="Lucida Sans Unicode"/>
              </a:rPr>
              <a:t>calcul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33" dirty="0">
                <a:solidFill>
                  <a:srgbClr val="685D46"/>
                </a:solidFill>
                <a:latin typeface="Lucida Sans Unicode"/>
                <a:cs typeface="Lucida Sans Unicode"/>
              </a:rPr>
              <a:t>d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u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27" dirty="0">
                <a:solidFill>
                  <a:srgbClr val="685D46"/>
                </a:solidFill>
                <a:latin typeface="Lucida Sans Unicode"/>
                <a:cs typeface="Lucida Sans Unicode"/>
              </a:rPr>
              <a:t>nov</a:t>
            </a:r>
            <a:r>
              <a:rPr sz="1867" spc="-20" dirty="0">
                <a:solidFill>
                  <a:srgbClr val="685D46"/>
                </a:solidFill>
                <a:latin typeface="Lucida Sans Unicode"/>
                <a:cs typeface="Lucida Sans Unicode"/>
              </a:rPr>
              <a:t>a</a:t>
            </a:r>
            <a:r>
              <a:rPr sz="1867" spc="-113" dirty="0">
                <a:solidFill>
                  <a:srgbClr val="685D46"/>
                </a:solidFill>
                <a:latin typeface="Lucida Sans Unicode"/>
                <a:cs typeface="Lucida Sans Unicode"/>
              </a:rPr>
              <a:t> </a:t>
            </a:r>
            <a:r>
              <a:rPr sz="1867" spc="-53" dirty="0">
                <a:solidFill>
                  <a:srgbClr val="685D46"/>
                </a:solidFill>
                <a:latin typeface="Lucida Sans Unicode"/>
                <a:cs typeface="Lucida Sans Unicode"/>
              </a:rPr>
              <a:t>score.</a:t>
            </a:r>
            <a:endParaRPr sz="1867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6305401"/>
            <a:ext cx="433265" cy="433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43632" y="6305398"/>
            <a:ext cx="767968" cy="4332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8082" y="3845292"/>
            <a:ext cx="9632271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600" spc="367" dirty="0"/>
              <a:t>Merci</a:t>
            </a:r>
            <a:r>
              <a:rPr sz="3600" spc="-200" dirty="0"/>
              <a:t> </a:t>
            </a:r>
            <a:r>
              <a:rPr sz="3600" spc="187" dirty="0"/>
              <a:t>pour</a:t>
            </a:r>
            <a:r>
              <a:rPr sz="3600" spc="-200" dirty="0"/>
              <a:t> </a:t>
            </a:r>
            <a:r>
              <a:rPr sz="3600" spc="167" dirty="0"/>
              <a:t>votre</a:t>
            </a:r>
            <a:r>
              <a:rPr sz="3600" spc="-193" dirty="0"/>
              <a:t> </a:t>
            </a:r>
            <a:r>
              <a:rPr sz="3600" spc="160" dirty="0"/>
              <a:t>attention</a:t>
            </a:r>
            <a:r>
              <a:rPr sz="3600" spc="-200" dirty="0"/>
              <a:t> !!</a:t>
            </a:r>
            <a:endParaRPr sz="36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5497" y="114328"/>
            <a:ext cx="1968305" cy="5007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968" y="189783"/>
            <a:ext cx="2792233" cy="334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72937" y="1182856"/>
            <a:ext cx="5293532" cy="2317165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3065</TotalTime>
  <Words>828</Words>
  <Application>Microsoft Office PowerPoint</Application>
  <PresentationFormat>Grand écran</PresentationFormat>
  <Paragraphs>97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31" baseType="lpstr">
      <vt:lpstr>Arial</vt:lpstr>
      <vt:lpstr>Arial MT</vt:lpstr>
      <vt:lpstr>Georgia</vt:lpstr>
      <vt:lpstr>Lucida Sans Unicode</vt:lpstr>
      <vt:lpstr>Roboto</vt:lpstr>
      <vt:lpstr>Tahoma</vt:lpstr>
      <vt:lpstr>Trebuchet MS</vt:lpstr>
      <vt:lpstr>Tw Cen MT</vt:lpstr>
      <vt:lpstr>Verdana</vt:lpstr>
      <vt:lpstr>Circuit</vt:lpstr>
      <vt:lpstr>APPLICATION AU SERVICE DE LA SANTE PUBLIQUE  </vt:lpstr>
      <vt:lpstr>Plan de Soutenance</vt:lpstr>
      <vt:lpstr>Objectifs du Projet</vt:lpstr>
      <vt:lpstr>           L'application propose une visualisation rapide du Nutri-Score, afin d'aider les utilisateurs ayant peu d'informations sur un produit à faire des choix alimentaires plus sains. Elle permet d'obtenir rapidement une évaluation du Nutri-Score d'un produit en fournissant seulement quelques informations. Cette fonctionnalité permet aux utilisateurs de prendre des décisions éclairées pour une alimentation équilibrée.</vt:lpstr>
      <vt:lpstr>Data Analysis Workﬂow</vt:lpstr>
      <vt:lpstr>Informations contenues dans le jeu de données</vt:lpstr>
      <vt:lpstr>Nettoyage des données</vt:lpstr>
      <vt:lpstr>Nettoyage des données</vt:lpstr>
      <vt:lpstr>Nettoyage des données</vt:lpstr>
      <vt:lpstr>Nettoyage des données</vt:lpstr>
      <vt:lpstr>Nettoyage des données</vt:lpstr>
      <vt:lpstr>Analyse et exploitation</vt:lpstr>
      <vt:lpstr>Analyse et exploitation</vt:lpstr>
      <vt:lpstr>TEST de CHI2</vt:lpstr>
      <vt:lpstr>Analyse en Composantes Principales </vt:lpstr>
      <vt:lpstr>Analyse et exploitation</vt:lpstr>
      <vt:lpstr>Analyse et exploitation</vt:lpstr>
      <vt:lpstr>Faisabilité de l’application </vt:lpstr>
      <vt:lpstr>Conclusion</vt:lpstr>
      <vt:lpstr>Présentation PowerPoint</vt:lpstr>
      <vt:lpstr>Merci pour votre attention 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AU SERVICE DE LA SANTE PUBLIQUE</dc:title>
  <dc:creator>Mohammed EL Haouzi</dc:creator>
  <cp:lastModifiedBy> </cp:lastModifiedBy>
  <cp:revision>9</cp:revision>
  <dcterms:created xsi:type="dcterms:W3CDTF">2023-06-10T19:26:40Z</dcterms:created>
  <dcterms:modified xsi:type="dcterms:W3CDTF">2023-06-13T20:00:34Z</dcterms:modified>
</cp:coreProperties>
</file>